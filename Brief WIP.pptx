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A_698B7F5D.xml" ContentType="application/vnd.ms-powerpoint.comments+xml"/>
  <Override PartName="/ppt/notesSlides/notesSlide4.xml" ContentType="application/vnd.openxmlformats-officedocument.presentationml.notesSlide+xml"/>
  <Override PartName="/ppt/comments/modernComment_10D_E6C537B8.xml" ContentType="application/vnd.ms-powerpoint.comments+xml"/>
  <Override PartName="/ppt/notesSlides/notesSlide5.xml" ContentType="application/vnd.openxmlformats-officedocument.presentationml.notesSlide+xml"/>
  <Override PartName="/ppt/comments/modernComment_11A_BC41BADD.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1B_25A9C31C.xml" ContentType="application/vnd.ms-powerpoint.comments+xml"/>
  <Override PartName="/ppt/notesSlides/notesSlide11.xml" ContentType="application/vnd.openxmlformats-officedocument.presentationml.notesSlide+xml"/>
  <Override PartName="/ppt/comments/modernComment_12E_CC40A1E9.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84" r:id="rId3"/>
    <p:sldId id="276" r:id="rId4"/>
    <p:sldId id="301" r:id="rId5"/>
    <p:sldId id="307" r:id="rId6"/>
    <p:sldId id="266" r:id="rId7"/>
    <p:sldId id="269" r:id="rId8"/>
    <p:sldId id="282" r:id="rId9"/>
    <p:sldId id="279" r:id="rId10"/>
    <p:sldId id="281" r:id="rId11"/>
    <p:sldId id="278" r:id="rId12"/>
    <p:sldId id="280" r:id="rId13"/>
    <p:sldId id="305" r:id="rId14"/>
    <p:sldId id="283" r:id="rId15"/>
    <p:sldId id="302" r:id="rId16"/>
    <p:sldId id="303" r:id="rId17"/>
    <p:sldId id="291" r:id="rId18"/>
    <p:sldId id="288" r:id="rId19"/>
    <p:sldId id="26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490B38-E560-99B5-56B5-3EC35A0C1893}" name="Rumlow, Zachary A" initials="ZR" userId="S::zrumlow@uiowa.edu::5d158432-60b0-445e-8e7f-93058dd864ed" providerId="AD"/>
  <p188:author id="{B69FE1B5-F18A-E72D-B30A-B767A449E1A1}" name="Rumlow, Zachary" initials="ZR" userId="S::zrumlow@med.umich.edu::12f29a11-9b21-4b99-bdf7-35e8e274706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709" autoAdjust="0"/>
  </p:normalViewPr>
  <p:slideViewPr>
    <p:cSldViewPr snapToGrid="0">
      <p:cViewPr varScale="1">
        <p:scale>
          <a:sx n="66" d="100"/>
          <a:sy n="66" d="100"/>
        </p:scale>
        <p:origin x="632" y="48"/>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omments/modernComment_10A_698B7F5D.xml><?xml version="1.0" encoding="utf-8"?>
<p188:cmLst xmlns:a="http://schemas.openxmlformats.org/drawingml/2006/main" xmlns:r="http://schemas.openxmlformats.org/officeDocument/2006/relationships" xmlns:p188="http://schemas.microsoft.com/office/powerpoint/2018/8/main">
  <p188:cm id="{02725A4A-A8DF-4BA6-B747-46D9B2891B8A}" authorId="{2A490B38-E560-99B5-56B5-3EC35A0C1893}" created="2026-02-10T18:26:54.902">
    <ac:deMkLst xmlns:ac="http://schemas.microsoft.com/office/drawing/2013/main/command">
      <pc:docMk xmlns:pc="http://schemas.microsoft.com/office/powerpoint/2013/main/command"/>
      <pc:sldMk xmlns:pc="http://schemas.microsoft.com/office/powerpoint/2013/main/command" cId="1770749789" sldId="266"/>
      <ac:spMk id="4" creationId="{6F09C083-F9C3-A6BA-A2EA-1688E6017FF4}"/>
    </ac:deMkLst>
    <p188:txBody>
      <a:bodyPr/>
      <a:lstStyle/>
      <a:p>
        <a:r>
          <a:rPr lang="en-US"/>
          <a:t>Connecting why these questions are intuitive based upon background</a:t>
        </a:r>
      </a:p>
    </p188:txBody>
  </p188:cm>
</p188:cmLst>
</file>

<file path=ppt/comments/modernComment_10D_E6C537B8.xml><?xml version="1.0" encoding="utf-8"?>
<p188:cmLst xmlns:a="http://schemas.openxmlformats.org/drawingml/2006/main" xmlns:r="http://schemas.openxmlformats.org/officeDocument/2006/relationships" xmlns:p188="http://schemas.microsoft.com/office/powerpoint/2018/8/main">
  <p188:cm id="{0345717B-F287-449A-BBD9-F81B61D036FB}" authorId="{B69FE1B5-F18A-E72D-B30A-B767A449E1A1}" status="resolved" created="2026-02-02T20:06:20.905" complete="100000">
    <ac:deMkLst xmlns:ac="http://schemas.microsoft.com/office/drawing/2013/main/command">
      <pc:docMk xmlns:pc="http://schemas.microsoft.com/office/powerpoint/2013/main/command"/>
      <pc:sldMk xmlns:pc="http://schemas.microsoft.com/office/powerpoint/2013/main/command" cId="3871684536" sldId="269"/>
      <ac:graphicFrameMk id="4" creationId="{BE4D4718-681B-7416-644F-73A0DC91F085}"/>
    </ac:deMkLst>
    <p188:replyLst>
      <p188:reply id="{D01A73AE-B7B2-47A7-ADE5-9C38CA8D2B06}" authorId="{B69FE1B5-F18A-E72D-B30A-B767A449E1A1}" created="2026-02-02T20:06:51.152">
        <p188:txBody>
          <a:bodyPr/>
          <a:lstStyle/>
          <a:p>
            <a:r>
              <a:rPr lang="en-US"/>
              <a:t>Standard deviation</a:t>
            </a:r>
          </a:p>
        </p188:txBody>
      </p188:reply>
    </p188:replyLst>
    <p188:txBody>
      <a:bodyPr/>
      <a:lstStyle/>
      <a:p>
        <a:r>
          <a:rPr lang="en-US"/>
          <a:t>Replace figure</a:t>
        </a:r>
      </a:p>
    </p188:txBody>
  </p188:cm>
</p188:cmLst>
</file>

<file path=ppt/comments/modernComment_11A_BC41BADD.xml><?xml version="1.0" encoding="utf-8"?>
<p188:cmLst xmlns:a="http://schemas.openxmlformats.org/drawingml/2006/main" xmlns:r="http://schemas.openxmlformats.org/officeDocument/2006/relationships" xmlns:p188="http://schemas.microsoft.com/office/powerpoint/2018/8/main">
  <p188:cm id="{23004B39-79AF-4C28-8495-0680CCEAEFD0}" authorId="{2A490B38-E560-99B5-56B5-3EC35A0C1893}" created="2026-02-10T18:27:55.369">
    <ac:deMkLst xmlns:ac="http://schemas.microsoft.com/office/drawing/2013/main/command">
      <pc:docMk xmlns:pc="http://schemas.microsoft.com/office/powerpoint/2013/main/command"/>
      <pc:sldMk xmlns:pc="http://schemas.microsoft.com/office/powerpoint/2013/main/command" cId="3158424285" sldId="282"/>
      <ac:picMk id="5" creationId="{EE213457-5507-1962-36CE-353A22B2B15A}"/>
    </ac:deMkLst>
    <p188:txBody>
      <a:bodyPr/>
      <a:lstStyle/>
      <a:p>
        <a:r>
          <a:rPr lang="en-US"/>
          <a:t>Proportion for data points</a:t>
        </a:r>
      </a:p>
    </p188:txBody>
  </p188:cm>
</p188:cmLst>
</file>

<file path=ppt/comments/modernComment_11B_25A9C31C.xml><?xml version="1.0" encoding="utf-8"?>
<p188:cmLst xmlns:a="http://schemas.openxmlformats.org/drawingml/2006/main" xmlns:r="http://schemas.openxmlformats.org/officeDocument/2006/relationships" xmlns:p188="http://schemas.microsoft.com/office/powerpoint/2018/8/main">
  <p188:cm id="{7DFFD99F-A6FB-419E-B7DA-0D00DA41F77F}" authorId="{2A490B38-E560-99B5-56B5-3EC35A0C1893}" created="2026-02-10T18:29:34.155">
    <ac:deMkLst xmlns:ac="http://schemas.microsoft.com/office/drawing/2013/main/command">
      <pc:docMk xmlns:pc="http://schemas.microsoft.com/office/powerpoint/2013/main/command"/>
      <pc:sldMk xmlns:pc="http://schemas.microsoft.com/office/powerpoint/2013/main/command" cId="631882524" sldId="283"/>
      <ac:graphicFrameMk id="5" creationId="{1BFD2F47-55CD-DA00-EF59-AA3B56720285}"/>
    </ac:deMkLst>
    <p188:txBody>
      <a:bodyPr/>
      <a:lstStyle/>
      <a:p>
        <a:r>
          <a:rPr lang="en-US"/>
          <a:t>List other variables that were NS</a:t>
        </a:r>
      </a:p>
    </p188:txBody>
  </p188:cm>
</p188:cmLst>
</file>

<file path=ppt/comments/modernComment_12E_CC40A1E9.xml><?xml version="1.0" encoding="utf-8"?>
<p188:cmLst xmlns:a="http://schemas.openxmlformats.org/drawingml/2006/main" xmlns:r="http://schemas.openxmlformats.org/officeDocument/2006/relationships" xmlns:p188="http://schemas.microsoft.com/office/powerpoint/2018/8/main">
  <p188:cm id="{2A0C86A7-8FD7-4523-BD62-40CA51E25760}" authorId="{2A490B38-E560-99B5-56B5-3EC35A0C1893}" created="2026-02-10T18:30:20.188">
    <ac:deMkLst xmlns:ac="http://schemas.microsoft.com/office/drawing/2013/main/command">
      <pc:docMk xmlns:pc="http://schemas.microsoft.com/office/powerpoint/2013/main/command"/>
      <pc:sldMk xmlns:pc="http://schemas.microsoft.com/office/powerpoint/2013/main/command" cId="3426787817" sldId="302"/>
      <ac:graphicFrameMk id="14" creationId="{4D5E70D3-EA96-3D29-D5E0-87E27B766D57}"/>
    </ac:deMkLst>
    <p188:txBody>
      <a:bodyPr/>
      <a:lstStyle/>
      <a:p>
        <a:r>
          <a:rPr lang="en-US"/>
          <a:t>Summary statement at bottom</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347B83-6844-4979-A9AC-989F5E5BD87F}"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EA3C3A-650C-4792-9A3C-00E93FB528A3}" type="slidenum">
              <a:rPr lang="en-US" smtClean="0"/>
              <a:t>‹#›</a:t>
            </a:fld>
            <a:endParaRPr lang="en-US"/>
          </a:p>
        </p:txBody>
      </p:sp>
    </p:spTree>
    <p:extLst>
      <p:ext uri="{BB962C8B-B14F-4D97-AF65-F5344CB8AC3E}">
        <p14:creationId xmlns:p14="http://schemas.microsoft.com/office/powerpoint/2010/main" val="91265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EA3C3A-650C-4792-9A3C-00E93FB528A3}" type="slidenum">
              <a:rPr lang="en-US" smtClean="0"/>
              <a:t>3</a:t>
            </a:fld>
            <a:endParaRPr lang="en-US"/>
          </a:p>
        </p:txBody>
      </p:sp>
    </p:spTree>
    <p:extLst>
      <p:ext uri="{BB962C8B-B14F-4D97-AF65-F5344CB8AC3E}">
        <p14:creationId xmlns:p14="http://schemas.microsoft.com/office/powerpoint/2010/main" val="463123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2015 ECMO respiratory contraindications has specific absolute contraindications</a:t>
            </a:r>
          </a:p>
          <a:p>
            <a:r>
              <a:rPr lang="en-US" dirty="0"/>
              <a:t>Right 2020 language is softened</a:t>
            </a:r>
          </a:p>
          <a:p>
            <a:endParaRPr lang="en-US" dirty="0"/>
          </a:p>
          <a:p>
            <a:r>
              <a:rPr lang="en-US" dirty="0"/>
              <a:t>Highlight differences re: removal of T13/18 but that risk is highlighted here w/o explicitly stating it</a:t>
            </a:r>
          </a:p>
        </p:txBody>
      </p:sp>
      <p:sp>
        <p:nvSpPr>
          <p:cNvPr id="4" name="Slide Number Placeholder 3"/>
          <p:cNvSpPr>
            <a:spLocks noGrp="1"/>
          </p:cNvSpPr>
          <p:nvPr>
            <p:ph type="sldNum" sz="quarter" idx="5"/>
          </p:nvPr>
        </p:nvSpPr>
        <p:spPr/>
        <p:txBody>
          <a:bodyPr/>
          <a:lstStyle/>
          <a:p>
            <a:fld id="{63EA3C3A-650C-4792-9A3C-00E93FB528A3}" type="slidenum">
              <a:rPr lang="en-US" smtClean="0"/>
              <a:t>4</a:t>
            </a:fld>
            <a:endParaRPr lang="en-US"/>
          </a:p>
        </p:txBody>
      </p:sp>
    </p:spTree>
    <p:extLst>
      <p:ext uri="{BB962C8B-B14F-4D97-AF65-F5344CB8AC3E}">
        <p14:creationId xmlns:p14="http://schemas.microsoft.com/office/powerpoint/2010/main" val="2812914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5EA40-B072-6394-F3EE-3952BA037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A95AA-2BFA-5262-F5D9-151209727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648654-6372-225C-9F03-3BCD5FF792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D89B58-6623-02A2-02E1-A31064E9F0C0}"/>
              </a:ext>
            </a:extLst>
          </p:cNvPr>
          <p:cNvSpPr>
            <a:spLocks noGrp="1"/>
          </p:cNvSpPr>
          <p:nvPr>
            <p:ph type="sldNum" sz="quarter" idx="5"/>
          </p:nvPr>
        </p:nvSpPr>
        <p:spPr/>
        <p:txBody>
          <a:bodyPr/>
          <a:lstStyle/>
          <a:p>
            <a:fld id="{63EA3C3A-650C-4792-9A3C-00E93FB528A3}" type="slidenum">
              <a:rPr lang="en-US" smtClean="0"/>
              <a:t>5</a:t>
            </a:fld>
            <a:endParaRPr lang="en-US"/>
          </a:p>
        </p:txBody>
      </p:sp>
    </p:spTree>
    <p:extLst>
      <p:ext uri="{BB962C8B-B14F-4D97-AF65-F5344CB8AC3E}">
        <p14:creationId xmlns:p14="http://schemas.microsoft.com/office/powerpoint/2010/main" val="2166105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  | Factor            Level           mortality = 0   mortality = 1   p-value |</a:t>
            </a:r>
          </a:p>
          <a:p>
            <a:r>
              <a:rPr lang="en-US" dirty="0"/>
              <a:t>  |---------------------------------------------------------------------------|</a:t>
            </a:r>
          </a:p>
          <a:p>
            <a:r>
              <a:rPr lang="en-US" dirty="0"/>
              <a:t>  | N                                 6586            4199                    |</a:t>
            </a:r>
          </a:p>
          <a:p>
            <a:r>
              <a:rPr lang="en-US" dirty="0"/>
              <a:t>  |---------------------------------------------------------------------------|</a:t>
            </a:r>
          </a:p>
          <a:p>
            <a:r>
              <a:rPr lang="en-US" dirty="0"/>
              <a:t>  | </a:t>
            </a:r>
            <a:r>
              <a:rPr lang="en-US" dirty="0" err="1"/>
              <a:t>high_risk_group</a:t>
            </a:r>
            <a:r>
              <a:rPr lang="en-US" dirty="0"/>
              <a:t>   T13/18          11 (0.2%)       9 (0.2%)         &lt;0.001 |</a:t>
            </a:r>
          </a:p>
          <a:p>
            <a:r>
              <a:rPr lang="en-US" dirty="0"/>
              <a:t>  |                   Trauma          928 (14.1%)     484 (11.5%)             |</a:t>
            </a:r>
          </a:p>
          <a:p>
            <a:r>
              <a:rPr lang="en-US" dirty="0"/>
              <a:t>  |                   </a:t>
            </a:r>
            <a:r>
              <a:rPr lang="en-US" dirty="0" err="1"/>
              <a:t>Onc</a:t>
            </a:r>
            <a:r>
              <a:rPr lang="en-US" dirty="0"/>
              <a:t>/HSCT        58 (0.9%)       59 (1.4%)               |</a:t>
            </a:r>
          </a:p>
          <a:p>
            <a:r>
              <a:rPr lang="en-US" dirty="0"/>
              <a:t>  |                   Not High Risk   5589 (84.9%)    3647 (86.9%)            |</a:t>
            </a:r>
          </a:p>
          <a:p>
            <a:r>
              <a:rPr lang="en-US" dirty="0"/>
              <a:t>  +---------------------------------------------------------------------------+</a:t>
            </a:r>
          </a:p>
          <a:p>
            <a:endParaRPr lang="en-US" dirty="0"/>
          </a:p>
        </p:txBody>
      </p:sp>
      <p:sp>
        <p:nvSpPr>
          <p:cNvPr id="4" name="Slide Number Placeholder 3"/>
          <p:cNvSpPr>
            <a:spLocks noGrp="1"/>
          </p:cNvSpPr>
          <p:nvPr>
            <p:ph type="sldNum" sz="quarter" idx="5"/>
          </p:nvPr>
        </p:nvSpPr>
        <p:spPr/>
        <p:txBody>
          <a:bodyPr/>
          <a:lstStyle/>
          <a:p>
            <a:fld id="{63EA3C3A-650C-4792-9A3C-00E93FB528A3}" type="slidenum">
              <a:rPr lang="en-US" smtClean="0"/>
              <a:t>7</a:t>
            </a:fld>
            <a:endParaRPr lang="en-US"/>
          </a:p>
        </p:txBody>
      </p:sp>
    </p:spTree>
    <p:extLst>
      <p:ext uri="{BB962C8B-B14F-4D97-AF65-F5344CB8AC3E}">
        <p14:creationId xmlns:p14="http://schemas.microsoft.com/office/powerpoint/2010/main" val="3737211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Number of ECMO cases: = 1,198 (95% CI: 1,064 ; 1,332)</a:t>
            </a:r>
          </a:p>
          <a:p>
            <a:r>
              <a:rPr lang="en-US" dirty="0"/>
              <a:t>Average Number of Admissions: = 106,900 (95% CI: 99,365 ; 114,435)</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Reg </a:t>
            </a:r>
            <a:r>
              <a:rPr lang="en-US" dirty="0" err="1"/>
              <a:t>annual_Admissions</a:t>
            </a:r>
            <a:r>
              <a:rPr lang="en-US" dirty="0"/>
              <a:t> by </a:t>
            </a:r>
            <a:r>
              <a:rPr lang="en-US" dirty="0" err="1"/>
              <a:t>YearOfService</a:t>
            </a:r>
            <a:r>
              <a:rPr lang="en-US" dirty="0"/>
              <a:t> (</a:t>
            </a:r>
            <a:r>
              <a:rPr lang="en-US" dirty="0" err="1"/>
              <a:t>CoE</a:t>
            </a:r>
            <a:r>
              <a:rPr lang="en-US" dirty="0"/>
              <a:t> = 2016 p = 0.114)</a:t>
            </a:r>
          </a:p>
          <a:p>
            <a:r>
              <a:rPr lang="en-US" dirty="0"/>
              <a:t>Reg </a:t>
            </a:r>
            <a:r>
              <a:rPr lang="en-US" dirty="0" err="1"/>
              <a:t>annual_ECMO</a:t>
            </a:r>
            <a:r>
              <a:rPr lang="en-US" dirty="0"/>
              <a:t> by </a:t>
            </a:r>
            <a:r>
              <a:rPr lang="en-US" dirty="0" err="1"/>
              <a:t>YearOfService</a:t>
            </a:r>
            <a:r>
              <a:rPr lang="en-US" dirty="0"/>
              <a:t> (</a:t>
            </a:r>
            <a:r>
              <a:rPr lang="en-US" dirty="0" err="1"/>
              <a:t>CoE</a:t>
            </a:r>
            <a:r>
              <a:rPr lang="en-US" dirty="0"/>
              <a:t> = 42 p = 0.050)</a:t>
            </a:r>
          </a:p>
          <a:p>
            <a:endParaRPr lang="en-US" dirty="0"/>
          </a:p>
        </p:txBody>
      </p:sp>
      <p:sp>
        <p:nvSpPr>
          <p:cNvPr id="4" name="Slide Number Placeholder 3"/>
          <p:cNvSpPr>
            <a:spLocks noGrp="1"/>
          </p:cNvSpPr>
          <p:nvPr>
            <p:ph type="sldNum" sz="quarter" idx="5"/>
          </p:nvPr>
        </p:nvSpPr>
        <p:spPr/>
        <p:txBody>
          <a:bodyPr/>
          <a:lstStyle/>
          <a:p>
            <a:fld id="{63EA3C3A-650C-4792-9A3C-00E93FB528A3}" type="slidenum">
              <a:rPr lang="en-US" smtClean="0"/>
              <a:t>8</a:t>
            </a:fld>
            <a:endParaRPr lang="en-US"/>
          </a:p>
        </p:txBody>
      </p:sp>
    </p:spTree>
    <p:extLst>
      <p:ext uri="{BB962C8B-B14F-4D97-AF65-F5344CB8AC3E}">
        <p14:creationId xmlns:p14="http://schemas.microsoft.com/office/powerpoint/2010/main" val="2090687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Number of ECMO cases: = 157 (95% CI: 138 ; 176)</a:t>
            </a:r>
          </a:p>
          <a:p>
            <a:r>
              <a:rPr lang="en-US" dirty="0"/>
              <a:t>Average Number of Admissions: = 7832 (95% CI: 7612 ; 8053)</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Reg </a:t>
            </a:r>
            <a:r>
              <a:rPr lang="en-US" dirty="0" err="1"/>
              <a:t>annual_Admissions</a:t>
            </a:r>
            <a:r>
              <a:rPr lang="en-US" dirty="0"/>
              <a:t> by </a:t>
            </a:r>
            <a:r>
              <a:rPr lang="en-US" dirty="0" err="1"/>
              <a:t>YearOfService</a:t>
            </a:r>
            <a:r>
              <a:rPr lang="en-US" dirty="0"/>
              <a:t> (</a:t>
            </a:r>
            <a:r>
              <a:rPr lang="en-US" dirty="0" err="1"/>
              <a:t>CoE</a:t>
            </a:r>
            <a:r>
              <a:rPr lang="en-US" dirty="0"/>
              <a:t> = 34 p = 0.39)</a:t>
            </a:r>
          </a:p>
          <a:p>
            <a:r>
              <a:rPr lang="en-US" dirty="0"/>
              <a:t>Reg </a:t>
            </a:r>
            <a:r>
              <a:rPr lang="en-US" dirty="0" err="1"/>
              <a:t>annual_ECMO</a:t>
            </a:r>
            <a:r>
              <a:rPr lang="en-US" dirty="0"/>
              <a:t> by </a:t>
            </a:r>
            <a:r>
              <a:rPr lang="en-US" dirty="0" err="1"/>
              <a:t>YearOfService</a:t>
            </a:r>
            <a:r>
              <a:rPr lang="en-US" dirty="0"/>
              <a:t> (</a:t>
            </a:r>
            <a:r>
              <a:rPr lang="en-US" dirty="0" err="1"/>
              <a:t>CoE</a:t>
            </a:r>
            <a:r>
              <a:rPr lang="en-US" dirty="0"/>
              <a:t> = -0.233  p = 0.95)</a:t>
            </a:r>
          </a:p>
          <a:p>
            <a:endParaRPr lang="en-US" dirty="0"/>
          </a:p>
          <a:p>
            <a:endParaRPr lang="en-US" dirty="0"/>
          </a:p>
        </p:txBody>
      </p:sp>
      <p:sp>
        <p:nvSpPr>
          <p:cNvPr id="4" name="Slide Number Placeholder 3"/>
          <p:cNvSpPr>
            <a:spLocks noGrp="1"/>
          </p:cNvSpPr>
          <p:nvPr>
            <p:ph type="sldNum" sz="quarter" idx="5"/>
          </p:nvPr>
        </p:nvSpPr>
        <p:spPr/>
        <p:txBody>
          <a:bodyPr/>
          <a:lstStyle/>
          <a:p>
            <a:fld id="{63EA3C3A-650C-4792-9A3C-00E93FB528A3}" type="slidenum">
              <a:rPr lang="en-US" smtClean="0"/>
              <a:t>9</a:t>
            </a:fld>
            <a:endParaRPr lang="en-US"/>
          </a:p>
        </p:txBody>
      </p:sp>
    </p:spTree>
    <p:extLst>
      <p:ext uri="{BB962C8B-B14F-4D97-AF65-F5344CB8AC3E}">
        <p14:creationId xmlns:p14="http://schemas.microsoft.com/office/powerpoint/2010/main" val="3024520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Number of ECMO cases: = 1,026 (95% CI: 903 ; 1,149)</a:t>
            </a:r>
          </a:p>
          <a:p>
            <a:r>
              <a:rPr lang="en-US" dirty="0"/>
              <a:t>Total Number of Admissions: = 95,177 (95% CI: 87,700 ; 102,654)</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Reg </a:t>
            </a:r>
            <a:r>
              <a:rPr lang="en-US" dirty="0" err="1"/>
              <a:t>annual_Admissions</a:t>
            </a:r>
            <a:r>
              <a:rPr lang="en-US" dirty="0"/>
              <a:t> by </a:t>
            </a:r>
            <a:r>
              <a:rPr lang="en-US" dirty="0" err="1"/>
              <a:t>YearOfService</a:t>
            </a:r>
            <a:r>
              <a:rPr lang="en-US" dirty="0"/>
              <a:t> (</a:t>
            </a:r>
            <a:r>
              <a:rPr lang="en-US" dirty="0" err="1"/>
              <a:t>CoE</a:t>
            </a:r>
            <a:r>
              <a:rPr lang="en-US" dirty="0"/>
              <a:t> = 2015 p = 0.114)</a:t>
            </a:r>
          </a:p>
          <a:p>
            <a:r>
              <a:rPr lang="en-US" dirty="0"/>
              <a:t>Reg </a:t>
            </a:r>
            <a:r>
              <a:rPr lang="en-US" dirty="0" err="1"/>
              <a:t>annual_ECMO</a:t>
            </a:r>
            <a:r>
              <a:rPr lang="en-US" dirty="0"/>
              <a:t> by </a:t>
            </a:r>
            <a:r>
              <a:rPr lang="en-US" dirty="0" err="1"/>
              <a:t>YearOfService</a:t>
            </a:r>
            <a:r>
              <a:rPr lang="en-US" dirty="0"/>
              <a:t> (</a:t>
            </a:r>
            <a:r>
              <a:rPr lang="en-US" dirty="0" err="1"/>
              <a:t>CoE</a:t>
            </a:r>
            <a:r>
              <a:rPr lang="en-US" dirty="0"/>
              <a:t> = 42 p = 0.030)</a:t>
            </a:r>
          </a:p>
          <a:p>
            <a:endParaRPr lang="en-US" dirty="0"/>
          </a:p>
        </p:txBody>
      </p:sp>
      <p:sp>
        <p:nvSpPr>
          <p:cNvPr id="4" name="Slide Number Placeholder 3"/>
          <p:cNvSpPr>
            <a:spLocks noGrp="1"/>
          </p:cNvSpPr>
          <p:nvPr>
            <p:ph type="sldNum" sz="quarter" idx="5"/>
          </p:nvPr>
        </p:nvSpPr>
        <p:spPr/>
        <p:txBody>
          <a:bodyPr/>
          <a:lstStyle/>
          <a:p>
            <a:fld id="{63EA3C3A-650C-4792-9A3C-00E93FB528A3}" type="slidenum">
              <a:rPr lang="en-US" smtClean="0"/>
              <a:t>10</a:t>
            </a:fld>
            <a:endParaRPr lang="en-US"/>
          </a:p>
        </p:txBody>
      </p:sp>
    </p:spTree>
    <p:extLst>
      <p:ext uri="{BB962C8B-B14F-4D97-AF65-F5344CB8AC3E}">
        <p14:creationId xmlns:p14="http://schemas.microsoft.com/office/powerpoint/2010/main" val="3708133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Number of ECMO cases: = 2 (95% CI: 1 ; 3)</a:t>
            </a:r>
          </a:p>
          <a:p>
            <a:r>
              <a:rPr lang="en-US" dirty="0"/>
              <a:t>Average Number of Admissions: = 413 (95% CI: 336 ; 491)</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Reg </a:t>
            </a:r>
            <a:r>
              <a:rPr lang="en-US" dirty="0" err="1"/>
              <a:t>annual_Admissions</a:t>
            </a:r>
            <a:r>
              <a:rPr lang="en-US" dirty="0"/>
              <a:t> by </a:t>
            </a:r>
            <a:r>
              <a:rPr lang="en-US" dirty="0" err="1"/>
              <a:t>YearOfService</a:t>
            </a:r>
            <a:r>
              <a:rPr lang="en-US" dirty="0"/>
              <a:t> (</a:t>
            </a:r>
            <a:r>
              <a:rPr lang="en-US" dirty="0" err="1"/>
              <a:t>CoE</a:t>
            </a:r>
            <a:r>
              <a:rPr lang="en-US" dirty="0"/>
              <a:t> = 33 p = 0.001)</a:t>
            </a:r>
          </a:p>
          <a:p>
            <a:r>
              <a:rPr lang="en-US" dirty="0"/>
              <a:t>Reg </a:t>
            </a:r>
            <a:r>
              <a:rPr lang="en-US" dirty="0" err="1"/>
              <a:t>annual_ECMO</a:t>
            </a:r>
            <a:r>
              <a:rPr lang="en-US" dirty="0"/>
              <a:t> by </a:t>
            </a:r>
            <a:r>
              <a:rPr lang="en-US" dirty="0" err="1"/>
              <a:t>YearOfService</a:t>
            </a:r>
            <a:r>
              <a:rPr lang="en-US" dirty="0"/>
              <a:t> (</a:t>
            </a:r>
            <a:r>
              <a:rPr lang="en-US" dirty="0" err="1"/>
              <a:t>CoE</a:t>
            </a:r>
            <a:r>
              <a:rPr lang="en-US" dirty="0"/>
              <a:t> = 0.08  p = 0.71)</a:t>
            </a:r>
          </a:p>
          <a:p>
            <a:r>
              <a:rPr lang="en-US" dirty="0"/>
              <a:t>9 total centers offered ECMO to patients</a:t>
            </a:r>
          </a:p>
        </p:txBody>
      </p:sp>
      <p:sp>
        <p:nvSpPr>
          <p:cNvPr id="4" name="Slide Number Placeholder 3"/>
          <p:cNvSpPr>
            <a:spLocks noGrp="1"/>
          </p:cNvSpPr>
          <p:nvPr>
            <p:ph type="sldNum" sz="quarter" idx="5"/>
          </p:nvPr>
        </p:nvSpPr>
        <p:spPr/>
        <p:txBody>
          <a:bodyPr/>
          <a:lstStyle/>
          <a:p>
            <a:fld id="{63EA3C3A-650C-4792-9A3C-00E93FB528A3}" type="slidenum">
              <a:rPr lang="en-US" smtClean="0"/>
              <a:t>11</a:t>
            </a:fld>
            <a:endParaRPr lang="en-US"/>
          </a:p>
        </p:txBody>
      </p:sp>
    </p:spTree>
    <p:extLst>
      <p:ext uri="{BB962C8B-B14F-4D97-AF65-F5344CB8AC3E}">
        <p14:creationId xmlns:p14="http://schemas.microsoft.com/office/powerpoint/2010/main" val="1322822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Number of ECMO cases: = 13 (95% CI: 10 ; 16)</a:t>
            </a:r>
          </a:p>
          <a:p>
            <a:r>
              <a:rPr lang="en-US" dirty="0"/>
              <a:t>Average Number of Admissions: = 3,940 (95% CI: 3,840 ; 4,039)</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Reg </a:t>
            </a:r>
            <a:r>
              <a:rPr lang="en-US" dirty="0" err="1"/>
              <a:t>annual_Admissions</a:t>
            </a:r>
            <a:r>
              <a:rPr lang="en-US" dirty="0"/>
              <a:t> by </a:t>
            </a:r>
            <a:r>
              <a:rPr lang="en-US" dirty="0" err="1"/>
              <a:t>YearOfService</a:t>
            </a:r>
            <a:r>
              <a:rPr lang="en-US" dirty="0"/>
              <a:t> (</a:t>
            </a:r>
            <a:r>
              <a:rPr lang="en-US" dirty="0" err="1"/>
              <a:t>CoE</a:t>
            </a:r>
            <a:r>
              <a:rPr lang="en-US" dirty="0"/>
              <a:t> = 3.1 p = 0.87)</a:t>
            </a:r>
          </a:p>
          <a:p>
            <a:r>
              <a:rPr lang="en-US" dirty="0"/>
              <a:t>Reg </a:t>
            </a:r>
            <a:r>
              <a:rPr lang="en-US" dirty="0" err="1"/>
              <a:t>annual_ECMO</a:t>
            </a:r>
            <a:r>
              <a:rPr lang="en-US" dirty="0"/>
              <a:t> by </a:t>
            </a:r>
            <a:r>
              <a:rPr lang="en-US" dirty="0" err="1"/>
              <a:t>YearOfService</a:t>
            </a:r>
            <a:r>
              <a:rPr lang="en-US" dirty="0"/>
              <a:t> (</a:t>
            </a:r>
            <a:r>
              <a:rPr lang="en-US" dirty="0" err="1"/>
              <a:t>CoE</a:t>
            </a:r>
            <a:r>
              <a:rPr lang="en-US" dirty="0"/>
              <a:t> = 0.72 p = 0.17)</a:t>
            </a:r>
          </a:p>
          <a:p>
            <a:r>
              <a:rPr lang="en-US" dirty="0"/>
              <a:t>36 centers offered ECMO to </a:t>
            </a:r>
            <a:r>
              <a:rPr lang="en-US" dirty="0" err="1"/>
              <a:t>onc</a:t>
            </a:r>
            <a:r>
              <a:rPr lang="en-US" dirty="0"/>
              <a:t> patients</a:t>
            </a:r>
          </a:p>
          <a:p>
            <a:endParaRPr lang="en-US" dirty="0"/>
          </a:p>
        </p:txBody>
      </p:sp>
      <p:sp>
        <p:nvSpPr>
          <p:cNvPr id="4" name="Slide Number Placeholder 3"/>
          <p:cNvSpPr>
            <a:spLocks noGrp="1"/>
          </p:cNvSpPr>
          <p:nvPr>
            <p:ph type="sldNum" sz="quarter" idx="5"/>
          </p:nvPr>
        </p:nvSpPr>
        <p:spPr/>
        <p:txBody>
          <a:bodyPr/>
          <a:lstStyle/>
          <a:p>
            <a:fld id="{63EA3C3A-650C-4792-9A3C-00E93FB528A3}" type="slidenum">
              <a:rPr lang="en-US" smtClean="0"/>
              <a:t>12</a:t>
            </a:fld>
            <a:endParaRPr lang="en-US"/>
          </a:p>
        </p:txBody>
      </p:sp>
    </p:spTree>
    <p:extLst>
      <p:ext uri="{BB962C8B-B14F-4D97-AF65-F5344CB8AC3E}">
        <p14:creationId xmlns:p14="http://schemas.microsoft.com/office/powerpoint/2010/main" val="2269938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ECMO Utilization as proportion:</a:t>
            </a:r>
          </a:p>
          <a:p>
            <a:r>
              <a:rPr lang="en-US" dirty="0"/>
              <a:t>Trisomy 13/18: 0.185%</a:t>
            </a:r>
          </a:p>
          <a:p>
            <a:r>
              <a:rPr lang="en-US" dirty="0"/>
              <a:t>Trauma: 13%</a:t>
            </a:r>
          </a:p>
          <a:p>
            <a:r>
              <a:rPr lang="en-US" dirty="0" err="1"/>
              <a:t>Onc</a:t>
            </a:r>
            <a:r>
              <a:rPr lang="en-US" dirty="0"/>
              <a:t>/HSCT: 1%</a:t>
            </a:r>
          </a:p>
          <a:p>
            <a:r>
              <a:rPr lang="en-US" dirty="0"/>
              <a:t>Total: 1.12% of all admissions</a:t>
            </a:r>
          </a:p>
        </p:txBody>
      </p:sp>
      <p:sp>
        <p:nvSpPr>
          <p:cNvPr id="4" name="Slide Number Placeholder 3"/>
          <p:cNvSpPr>
            <a:spLocks noGrp="1"/>
          </p:cNvSpPr>
          <p:nvPr>
            <p:ph type="sldNum" sz="quarter" idx="5"/>
          </p:nvPr>
        </p:nvSpPr>
        <p:spPr/>
        <p:txBody>
          <a:bodyPr/>
          <a:lstStyle/>
          <a:p>
            <a:fld id="{63EA3C3A-650C-4792-9A3C-00E93FB528A3}" type="slidenum">
              <a:rPr lang="en-US" smtClean="0"/>
              <a:t>14</a:t>
            </a:fld>
            <a:endParaRPr lang="en-US"/>
          </a:p>
        </p:txBody>
      </p:sp>
    </p:spTree>
    <p:extLst>
      <p:ext uri="{BB962C8B-B14F-4D97-AF65-F5344CB8AC3E}">
        <p14:creationId xmlns:p14="http://schemas.microsoft.com/office/powerpoint/2010/main" val="378838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Center Median ECMO (IQR): 250 (150 , 390)</a:t>
            </a:r>
          </a:p>
          <a:p>
            <a:r>
              <a:rPr lang="en-US" dirty="0"/>
              <a:t>99% : 530 cases / 8 years</a:t>
            </a:r>
          </a:p>
          <a:p>
            <a:r>
              <a:rPr lang="en-US" dirty="0"/>
              <a:t>1%:  12/ 8 years years</a:t>
            </a:r>
          </a:p>
        </p:txBody>
      </p:sp>
      <p:sp>
        <p:nvSpPr>
          <p:cNvPr id="4" name="Slide Number Placeholder 3"/>
          <p:cNvSpPr>
            <a:spLocks noGrp="1"/>
          </p:cNvSpPr>
          <p:nvPr>
            <p:ph type="sldNum" sz="quarter" idx="5"/>
          </p:nvPr>
        </p:nvSpPr>
        <p:spPr/>
        <p:txBody>
          <a:bodyPr/>
          <a:lstStyle/>
          <a:p>
            <a:fld id="{63EA3C3A-650C-4792-9A3C-00E93FB528A3}" type="slidenum">
              <a:rPr lang="en-US" smtClean="0"/>
              <a:t>15</a:t>
            </a:fld>
            <a:endParaRPr lang="en-US" dirty="0"/>
          </a:p>
        </p:txBody>
      </p:sp>
    </p:spTree>
    <p:extLst>
      <p:ext uri="{BB962C8B-B14F-4D97-AF65-F5344CB8AC3E}">
        <p14:creationId xmlns:p14="http://schemas.microsoft.com/office/powerpoint/2010/main" val="334686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Center Median Admissions (IQR): 22,121 (15,439 , 29,756)</a:t>
            </a:r>
          </a:p>
          <a:p>
            <a:r>
              <a:rPr lang="en-US" dirty="0"/>
              <a:t>99%: Total Admissions = 54,479/ Total ECMO = ***/ proportion =  ***%</a:t>
            </a:r>
          </a:p>
          <a:p>
            <a:r>
              <a:rPr lang="en-US" dirty="0"/>
              <a:t>1%: Total Admissions = 6,364/ Total ECMO = ***/ proportion = ***%</a:t>
            </a:r>
          </a:p>
          <a:p>
            <a:endParaRPr lang="en-US" dirty="0"/>
          </a:p>
          <a:p>
            <a:endParaRPr lang="en-US" dirty="0"/>
          </a:p>
        </p:txBody>
      </p:sp>
      <p:sp>
        <p:nvSpPr>
          <p:cNvPr id="4" name="Slide Number Placeholder 3"/>
          <p:cNvSpPr>
            <a:spLocks noGrp="1"/>
          </p:cNvSpPr>
          <p:nvPr>
            <p:ph type="sldNum" sz="quarter" idx="5"/>
          </p:nvPr>
        </p:nvSpPr>
        <p:spPr/>
        <p:txBody>
          <a:bodyPr/>
          <a:lstStyle/>
          <a:p>
            <a:fld id="{63EA3C3A-650C-4792-9A3C-00E93FB528A3}" type="slidenum">
              <a:rPr lang="en-US" smtClean="0"/>
              <a:t>16</a:t>
            </a:fld>
            <a:endParaRPr lang="en-US" dirty="0"/>
          </a:p>
        </p:txBody>
      </p:sp>
    </p:spTree>
    <p:extLst>
      <p:ext uri="{BB962C8B-B14F-4D97-AF65-F5344CB8AC3E}">
        <p14:creationId xmlns:p14="http://schemas.microsoft.com/office/powerpoint/2010/main" val="2695348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0BDC-48A5-361F-1946-CB9C2E9A6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7D002-CE2D-7B4E-CF4A-00A17881C6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3686FD-246C-2DE1-FD30-885334F1E9E4}"/>
              </a:ext>
            </a:extLst>
          </p:cNvPr>
          <p:cNvSpPr>
            <a:spLocks noGrp="1"/>
          </p:cNvSpPr>
          <p:nvPr>
            <p:ph type="body" idx="1"/>
          </p:nvPr>
        </p:nvSpPr>
        <p:spPr/>
        <p:txBody>
          <a:bodyPr/>
          <a:lstStyle/>
          <a:p>
            <a:pPr marL="228600" indent="-228600">
              <a:buAutoNum type="arabicPeriod"/>
            </a:pPr>
            <a:r>
              <a:rPr lang="en-US" dirty="0"/>
              <a:t>Data in our work likely pulls from the same pool of patients previously published</a:t>
            </a:r>
          </a:p>
          <a:p>
            <a:pPr marL="685800" lvl="1" indent="-228600">
              <a:buAutoNum type="arabicPeriod"/>
            </a:pPr>
            <a:r>
              <a:rPr lang="en-US" dirty="0"/>
              <a:t>Given this it is possible that using administrative datasets such as PHIS may allow researchers to combine patient level and hospital level factors in hypothesis answering work regarding patient selection and outcomes on ECMO</a:t>
            </a:r>
          </a:p>
          <a:p>
            <a:pPr marL="228600" lvl="0" indent="-228600">
              <a:buAutoNum type="arabicPeriod"/>
            </a:pPr>
            <a:r>
              <a:rPr lang="en-US" dirty="0"/>
              <a:t>ECMO utilization in high-risk populations has not changed significantly over time, limitation is that COVID did influence this and over coming years may find that there is a trend towards significance</a:t>
            </a:r>
          </a:p>
          <a:p>
            <a:pPr marL="228600" lvl="0" indent="-228600">
              <a:buAutoNum type="arabicPeriod"/>
            </a:pPr>
            <a:r>
              <a:rPr lang="en-US" dirty="0"/>
              <a:t>Trauma patients likely do not need to be thought of any differently from a mortality risk standpoint for ECMO. T13/18 and </a:t>
            </a:r>
            <a:r>
              <a:rPr lang="en-US" dirty="0" err="1"/>
              <a:t>Onc</a:t>
            </a:r>
            <a:r>
              <a:rPr lang="en-US" dirty="0"/>
              <a:t> populations may present unique areas of thought when considering for candidacy. Hospital level factors may influence candidacy. Further evaluation tying candidacy/patient selection to outcomes may help elucidate how patient selection influences patient level outcomes</a:t>
            </a:r>
          </a:p>
        </p:txBody>
      </p:sp>
      <p:sp>
        <p:nvSpPr>
          <p:cNvPr id="4" name="Slide Number Placeholder 3">
            <a:extLst>
              <a:ext uri="{FF2B5EF4-FFF2-40B4-BE49-F238E27FC236}">
                <a16:creationId xmlns:a16="http://schemas.microsoft.com/office/drawing/2014/main" id="{781287C2-9DB2-6056-2056-E090795305DA}"/>
              </a:ext>
            </a:extLst>
          </p:cNvPr>
          <p:cNvSpPr>
            <a:spLocks noGrp="1"/>
          </p:cNvSpPr>
          <p:nvPr>
            <p:ph type="sldNum" sz="quarter" idx="5"/>
          </p:nvPr>
        </p:nvSpPr>
        <p:spPr/>
        <p:txBody>
          <a:bodyPr/>
          <a:lstStyle/>
          <a:p>
            <a:fld id="{63EA3C3A-650C-4792-9A3C-00E93FB528A3}" type="slidenum">
              <a:rPr lang="en-US" smtClean="0"/>
              <a:t>17</a:t>
            </a:fld>
            <a:endParaRPr lang="en-US"/>
          </a:p>
        </p:txBody>
      </p:sp>
    </p:spTree>
    <p:extLst>
      <p:ext uri="{BB962C8B-B14F-4D97-AF65-F5344CB8AC3E}">
        <p14:creationId xmlns:p14="http://schemas.microsoft.com/office/powerpoint/2010/main" val="3343647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63EA3C3A-650C-4792-9A3C-00E93FB528A3}" type="slidenum">
              <a:rPr lang="en-US" smtClean="0"/>
              <a:t>18</a:t>
            </a:fld>
            <a:endParaRPr lang="en-US"/>
          </a:p>
        </p:txBody>
      </p:sp>
    </p:spTree>
    <p:extLst>
      <p:ext uri="{BB962C8B-B14F-4D97-AF65-F5344CB8AC3E}">
        <p14:creationId xmlns:p14="http://schemas.microsoft.com/office/powerpoint/2010/main" val="11164104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5CE363-3067-4AE7-BEBA-82A57AFC2943}" type="datetimeFigureOut">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DD67874-BBC3-4018-965C-3FB31226AA23}" type="slidenum">
              <a:rPr lang="en-US" smtClean="0"/>
              <a:t>‹#›</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292" y="6356350"/>
            <a:ext cx="4075184" cy="387097"/>
          </a:xfrm>
          <a:prstGeom prst="rect">
            <a:avLst/>
          </a:prstGeom>
        </p:spPr>
      </p:pic>
    </p:spTree>
    <p:extLst>
      <p:ext uri="{BB962C8B-B14F-4D97-AF65-F5344CB8AC3E}">
        <p14:creationId xmlns:p14="http://schemas.microsoft.com/office/powerpoint/2010/main" val="868930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CE363-3067-4AE7-BEBA-82A57AFC2943}" type="datetimeFigureOut">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DD67874-BBC3-4018-965C-3FB31226AA23}" type="slidenum">
              <a:rPr lang="en-US" smtClean="0"/>
              <a:t>‹#›</a:t>
            </a:fld>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292" y="6356350"/>
            <a:ext cx="4075184" cy="387097"/>
          </a:xfrm>
          <a:prstGeom prst="rect">
            <a:avLst/>
          </a:prstGeom>
        </p:spPr>
      </p:pic>
      <p:cxnSp>
        <p:nvCxnSpPr>
          <p:cNvPr id="11" name="Straight Connector 10"/>
          <p:cNvCxnSpPr/>
          <p:nvPr/>
        </p:nvCxnSpPr>
        <p:spPr>
          <a:xfrm>
            <a:off x="0" y="1510382"/>
            <a:ext cx="12192000" cy="0"/>
          </a:xfrm>
          <a:prstGeom prst="line">
            <a:avLst/>
          </a:prstGeom>
          <a:ln w="38100">
            <a:solidFill>
              <a:srgbClr val="01316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763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5CE363-3067-4AE7-BEBA-82A57AFC2943}" type="datetimeFigureOut">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DD67874-BBC3-4018-965C-3FB31226AA23}" type="slidenum">
              <a:rPr lang="en-US" smtClean="0"/>
              <a:t>‹#›</a:t>
            </a:fld>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292" y="6356350"/>
            <a:ext cx="4075184" cy="387097"/>
          </a:xfrm>
          <a:prstGeom prst="rect">
            <a:avLst/>
          </a:prstGeom>
        </p:spPr>
      </p:pic>
    </p:spTree>
    <p:extLst>
      <p:ext uri="{BB962C8B-B14F-4D97-AF65-F5344CB8AC3E}">
        <p14:creationId xmlns:p14="http://schemas.microsoft.com/office/powerpoint/2010/main" val="170500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5CE363-3067-4AE7-BEBA-82A57AFC2943}" type="datetimeFigureOut">
              <a:rPr lang="en-US" smtClean="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DD67874-BBC3-4018-965C-3FB31226AA23}" type="slidenum">
              <a:rPr lang="en-US" smtClean="0"/>
              <a:t>‹#›</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292" y="6356350"/>
            <a:ext cx="4075184" cy="387097"/>
          </a:xfrm>
          <a:prstGeom prst="rect">
            <a:avLst/>
          </a:prstGeom>
        </p:spPr>
      </p:pic>
      <p:cxnSp>
        <p:nvCxnSpPr>
          <p:cNvPr id="10" name="Straight Connector 9"/>
          <p:cNvCxnSpPr/>
          <p:nvPr/>
        </p:nvCxnSpPr>
        <p:spPr>
          <a:xfrm>
            <a:off x="0" y="1510382"/>
            <a:ext cx="12192000" cy="0"/>
          </a:xfrm>
          <a:prstGeom prst="line">
            <a:avLst/>
          </a:prstGeom>
          <a:ln w="38100">
            <a:solidFill>
              <a:srgbClr val="01316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6066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5CE363-3067-4AE7-BEBA-82A57AFC2943}" type="datetimeFigureOut">
              <a:rPr lang="en-US" smtClean="0"/>
              <a:t>2/18/2026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DD67874-BBC3-4018-965C-3FB31226AA23}" type="slidenum">
              <a:rPr lang="en-US" smtClean="0"/>
              <a:t>‹#›</a:t>
            </a:fld>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292" y="6356350"/>
            <a:ext cx="4075184" cy="387097"/>
          </a:xfrm>
          <a:prstGeom prst="rect">
            <a:avLst/>
          </a:prstGeom>
        </p:spPr>
      </p:pic>
    </p:spTree>
    <p:extLst>
      <p:ext uri="{BB962C8B-B14F-4D97-AF65-F5344CB8AC3E}">
        <p14:creationId xmlns:p14="http://schemas.microsoft.com/office/powerpoint/2010/main" val="280098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5CE363-3067-4AE7-BEBA-82A57AFC2943}" type="datetimeFigureOut">
              <a:rPr lang="en-US" smtClean="0"/>
              <a:t>2/18/2026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DD67874-BBC3-4018-965C-3FB31226AA23}" type="slidenum">
              <a:rPr lang="en-US" smtClean="0"/>
              <a:t>‹#›</a:t>
            </a:fld>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292" y="6356350"/>
            <a:ext cx="4075184" cy="387097"/>
          </a:xfrm>
          <a:prstGeom prst="rect">
            <a:avLst/>
          </a:prstGeom>
        </p:spPr>
      </p:pic>
      <p:cxnSp>
        <p:nvCxnSpPr>
          <p:cNvPr id="8" name="Straight Connector 7"/>
          <p:cNvCxnSpPr/>
          <p:nvPr/>
        </p:nvCxnSpPr>
        <p:spPr>
          <a:xfrm>
            <a:off x="0" y="1510382"/>
            <a:ext cx="12192000" cy="0"/>
          </a:xfrm>
          <a:prstGeom prst="line">
            <a:avLst/>
          </a:prstGeom>
          <a:ln w="38100">
            <a:solidFill>
              <a:srgbClr val="01316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1311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CE363-3067-4AE7-BEBA-82A57AFC2943}" type="datetimeFigureOut">
              <a:rPr lang="en-US" smtClean="0"/>
              <a:t>2/18/2026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DD67874-BBC3-4018-965C-3FB31226AA23}" type="slidenum">
              <a:rPr lang="en-US" smtClean="0"/>
              <a:t>‹#›</a:t>
            </a:fld>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292" y="6356350"/>
            <a:ext cx="4075184" cy="387097"/>
          </a:xfrm>
          <a:prstGeom prst="rect">
            <a:avLst/>
          </a:prstGeom>
        </p:spPr>
      </p:pic>
    </p:spTree>
    <p:extLst>
      <p:ext uri="{BB962C8B-B14F-4D97-AF65-F5344CB8AC3E}">
        <p14:creationId xmlns:p14="http://schemas.microsoft.com/office/powerpoint/2010/main" val="4252098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5CE363-3067-4AE7-BEBA-82A57AFC2943}" type="datetimeFigureOut">
              <a:rPr lang="en-US" smtClean="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DD67874-BBC3-4018-965C-3FB31226AA23}" type="slidenum">
              <a:rPr lang="en-US" smtClean="0"/>
              <a:t>‹#›</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292" y="6356350"/>
            <a:ext cx="4075184" cy="387097"/>
          </a:xfrm>
          <a:prstGeom prst="rect">
            <a:avLst/>
          </a:prstGeom>
        </p:spPr>
      </p:pic>
    </p:spTree>
    <p:extLst>
      <p:ext uri="{BB962C8B-B14F-4D97-AF65-F5344CB8AC3E}">
        <p14:creationId xmlns:p14="http://schemas.microsoft.com/office/powerpoint/2010/main" val="755558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5CE363-3067-4AE7-BEBA-82A57AFC2943}" type="datetimeFigureOut">
              <a:rPr lang="en-US" smtClean="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DD67874-BBC3-4018-965C-3FB31226AA23}" type="slidenum">
              <a:rPr lang="en-US" smtClean="0"/>
              <a:t>‹#›</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292" y="6356350"/>
            <a:ext cx="4075184" cy="387097"/>
          </a:xfrm>
          <a:prstGeom prst="rect">
            <a:avLst/>
          </a:prstGeom>
        </p:spPr>
      </p:pic>
    </p:spTree>
    <p:extLst>
      <p:ext uri="{BB962C8B-B14F-4D97-AF65-F5344CB8AC3E}">
        <p14:creationId xmlns:p14="http://schemas.microsoft.com/office/powerpoint/2010/main" val="2310155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CE363-3067-4AE7-BEBA-82A57AFC2943}" type="datetimeFigureOut">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DD67874-BBC3-4018-965C-3FB31226AA23}" type="slidenum">
              <a:rPr lang="en-US" smtClean="0"/>
              <a:t>‹#›</a:t>
            </a:fld>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292" y="6356350"/>
            <a:ext cx="4075184" cy="387097"/>
          </a:xfrm>
          <a:prstGeom prst="rect">
            <a:avLst/>
          </a:prstGeom>
        </p:spPr>
      </p:pic>
    </p:spTree>
    <p:extLst>
      <p:ext uri="{BB962C8B-B14F-4D97-AF65-F5344CB8AC3E}">
        <p14:creationId xmlns:p14="http://schemas.microsoft.com/office/powerpoint/2010/main" val="3946077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CE363-3067-4AE7-BEBA-82A57AFC2943}" type="datetimeFigureOut">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DD67874-BBC3-4018-965C-3FB31226AA23}" type="slidenum">
              <a:rPr lang="en-US" smtClean="0"/>
              <a:t>‹#›</a:t>
            </a:fld>
            <a:endParaRPr lang="en-US" dirty="0"/>
          </a:p>
        </p:txBody>
      </p:sp>
    </p:spTree>
    <p:extLst>
      <p:ext uri="{BB962C8B-B14F-4D97-AF65-F5344CB8AC3E}">
        <p14:creationId xmlns:p14="http://schemas.microsoft.com/office/powerpoint/2010/main" val="981763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5CE363-3067-4AE7-BEBA-82A57AFC2943}" type="datetimeFigureOut">
              <a:rPr lang="en-US" smtClean="0"/>
              <a:t>2/18/2026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D67874-BBC3-4018-965C-3FB31226AA23}" type="slidenum">
              <a:rPr lang="en-US" smtClean="0"/>
              <a:t>‹#›</a:t>
            </a:fld>
            <a:endParaRPr lang="en-US" dirty="0"/>
          </a:p>
        </p:txBody>
      </p:sp>
    </p:spTree>
    <p:extLst>
      <p:ext uri="{BB962C8B-B14F-4D97-AF65-F5344CB8AC3E}">
        <p14:creationId xmlns:p14="http://schemas.microsoft.com/office/powerpoint/2010/main" val="432008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A_698B7F5D.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D_E6C537B8.xm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1A_BC41BADD.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1B_25A9C31C.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2E_CC40A1E9.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1466-F965-C2CE-6FC3-BCB330A0C7B2}"/>
              </a:ext>
            </a:extLst>
          </p:cNvPr>
          <p:cNvSpPr>
            <a:spLocks noGrp="1"/>
          </p:cNvSpPr>
          <p:nvPr>
            <p:ph type="ctrTitle"/>
          </p:nvPr>
        </p:nvSpPr>
        <p:spPr>
          <a:xfrm>
            <a:off x="0" y="1122363"/>
            <a:ext cx="12192000" cy="2387600"/>
          </a:xfrm>
        </p:spPr>
        <p:txBody>
          <a:bodyPr>
            <a:normAutofit/>
          </a:bodyPr>
          <a:lstStyle/>
          <a:p>
            <a:r>
              <a:rPr lang="en-US" sz="7500" dirty="0"/>
              <a:t>ECMO Utilization in </a:t>
            </a:r>
            <a:br>
              <a:rPr lang="en-US" sz="7500" dirty="0"/>
            </a:br>
            <a:r>
              <a:rPr lang="en-US" sz="7500" dirty="0"/>
              <a:t>“High-Risk” Populations</a:t>
            </a:r>
          </a:p>
        </p:txBody>
      </p:sp>
      <p:sp>
        <p:nvSpPr>
          <p:cNvPr id="3" name="Subtitle 2">
            <a:extLst>
              <a:ext uri="{FF2B5EF4-FFF2-40B4-BE49-F238E27FC236}">
                <a16:creationId xmlns:a16="http://schemas.microsoft.com/office/drawing/2014/main" id="{52488F7D-9619-E2C7-5CE1-DBEBF9BC2319}"/>
              </a:ext>
            </a:extLst>
          </p:cNvPr>
          <p:cNvSpPr>
            <a:spLocks noGrp="1"/>
          </p:cNvSpPr>
          <p:nvPr>
            <p:ph type="subTitle" idx="1"/>
          </p:nvPr>
        </p:nvSpPr>
        <p:spPr/>
        <p:txBody>
          <a:bodyPr/>
          <a:lstStyle/>
          <a:p>
            <a:r>
              <a:rPr lang="en-US" dirty="0"/>
              <a:t>Zachary Rumlow DO</a:t>
            </a:r>
          </a:p>
          <a:p>
            <a:r>
              <a:rPr lang="en-US" dirty="0"/>
              <a:t>Pediatric Critical Care Fellow PGY-5</a:t>
            </a:r>
          </a:p>
          <a:p>
            <a:r>
              <a:rPr lang="en-US" dirty="0"/>
              <a:t>Susan B Meister CHEAR Fellow</a:t>
            </a:r>
          </a:p>
        </p:txBody>
      </p:sp>
    </p:spTree>
    <p:extLst>
      <p:ext uri="{BB962C8B-B14F-4D97-AF65-F5344CB8AC3E}">
        <p14:creationId xmlns:p14="http://schemas.microsoft.com/office/powerpoint/2010/main" val="2392863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AB127-D025-F7F6-35DF-7990B27DA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DBDD0-5473-5BD6-9F5F-B17727636C37}"/>
              </a:ext>
            </a:extLst>
          </p:cNvPr>
          <p:cNvSpPr>
            <a:spLocks noGrp="1"/>
          </p:cNvSpPr>
          <p:nvPr>
            <p:ph type="title"/>
          </p:nvPr>
        </p:nvSpPr>
        <p:spPr>
          <a:xfrm>
            <a:off x="0" y="18255"/>
            <a:ext cx="10515600" cy="1325563"/>
          </a:xfrm>
        </p:spPr>
        <p:txBody>
          <a:bodyPr/>
          <a:lstStyle/>
          <a:p>
            <a:r>
              <a:rPr lang="en-US" dirty="0"/>
              <a:t>Objectives</a:t>
            </a:r>
          </a:p>
        </p:txBody>
      </p:sp>
      <p:sp>
        <p:nvSpPr>
          <p:cNvPr id="4" name="TextBox 3">
            <a:extLst>
              <a:ext uri="{FF2B5EF4-FFF2-40B4-BE49-F238E27FC236}">
                <a16:creationId xmlns:a16="http://schemas.microsoft.com/office/drawing/2014/main" id="{E3A06B2A-3B41-7D2A-3517-00C736A630B7}"/>
              </a:ext>
            </a:extLst>
          </p:cNvPr>
          <p:cNvSpPr txBox="1"/>
          <p:nvPr/>
        </p:nvSpPr>
        <p:spPr>
          <a:xfrm>
            <a:off x="-33918" y="1540954"/>
            <a:ext cx="12054468" cy="1815882"/>
          </a:xfrm>
          <a:prstGeom prst="rect">
            <a:avLst/>
          </a:prstGeom>
          <a:noFill/>
        </p:spPr>
        <p:txBody>
          <a:bodyPr wrap="square" rtlCol="0">
            <a:spAutoFit/>
          </a:bodyPr>
          <a:lstStyle/>
          <a:p>
            <a:r>
              <a:rPr lang="en-US" sz="2800" dirty="0">
                <a:latin typeface="+mj-lt"/>
              </a:rPr>
              <a:t>By the end of this talk attendees should understand:</a:t>
            </a:r>
          </a:p>
          <a:p>
            <a:pPr marL="514350" indent="-514350">
              <a:buAutoNum type="arabicPeriod"/>
            </a:pPr>
            <a:r>
              <a:rPr lang="en-US" sz="2800" dirty="0">
                <a:latin typeface="+mj-lt"/>
              </a:rPr>
              <a:t>The differential risk associated with ECMO utilization</a:t>
            </a:r>
          </a:p>
          <a:p>
            <a:pPr marL="514350" indent="-514350">
              <a:buAutoNum type="arabicPeriod"/>
            </a:pPr>
            <a:r>
              <a:rPr lang="en-US" sz="2800" dirty="0">
                <a:latin typeface="+mj-lt"/>
              </a:rPr>
              <a:t>Patient </a:t>
            </a:r>
            <a:r>
              <a:rPr lang="en-US" sz="2800">
                <a:latin typeface="+mj-lt"/>
              </a:rPr>
              <a:t>and hospital </a:t>
            </a:r>
            <a:r>
              <a:rPr lang="en-US" sz="2800" dirty="0">
                <a:latin typeface="+mj-lt"/>
              </a:rPr>
              <a:t>level factors that may be associated with ECMO utilization in “high-risk” patients</a:t>
            </a:r>
          </a:p>
        </p:txBody>
      </p:sp>
    </p:spTree>
    <p:extLst>
      <p:ext uri="{BB962C8B-B14F-4D97-AF65-F5344CB8AC3E}">
        <p14:creationId xmlns:p14="http://schemas.microsoft.com/office/powerpoint/2010/main" val="223896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A8ED1-D3C1-F10D-2DFC-4839F602B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A68B4-A3DB-EC4D-A0AC-FB34BD52F079}"/>
              </a:ext>
            </a:extLst>
          </p:cNvPr>
          <p:cNvSpPr>
            <a:spLocks noGrp="1"/>
          </p:cNvSpPr>
          <p:nvPr>
            <p:ph type="title"/>
          </p:nvPr>
        </p:nvSpPr>
        <p:spPr>
          <a:xfrm>
            <a:off x="0" y="18255"/>
            <a:ext cx="10515600" cy="1325563"/>
          </a:xfrm>
        </p:spPr>
        <p:txBody>
          <a:bodyPr/>
          <a:lstStyle/>
          <a:p>
            <a:r>
              <a:rPr lang="en-US" dirty="0"/>
              <a:t>Who gets ECMO</a:t>
            </a:r>
          </a:p>
        </p:txBody>
      </p:sp>
      <p:sp>
        <p:nvSpPr>
          <p:cNvPr id="3" name="Content Placeholder 2">
            <a:extLst>
              <a:ext uri="{FF2B5EF4-FFF2-40B4-BE49-F238E27FC236}">
                <a16:creationId xmlns:a16="http://schemas.microsoft.com/office/drawing/2014/main" id="{6F64999E-094C-E572-3FF8-0CF54E317230}"/>
              </a:ext>
            </a:extLst>
          </p:cNvPr>
          <p:cNvSpPr>
            <a:spLocks noGrp="1"/>
          </p:cNvSpPr>
          <p:nvPr>
            <p:ph idx="1"/>
          </p:nvPr>
        </p:nvSpPr>
        <p:spPr>
          <a:xfrm>
            <a:off x="188183" y="1529062"/>
            <a:ext cx="11918092" cy="4509787"/>
          </a:xfrm>
        </p:spPr>
        <p:txBody>
          <a:bodyPr>
            <a:noAutofit/>
          </a:bodyPr>
          <a:lstStyle/>
          <a:p>
            <a:r>
              <a:rPr lang="en-US" dirty="0">
                <a:latin typeface="+mj-lt"/>
              </a:rPr>
              <a:t>Considerations for ECMO Utilization:</a:t>
            </a:r>
          </a:p>
          <a:p>
            <a:pPr lvl="1"/>
            <a:r>
              <a:rPr lang="en-US" sz="2800" dirty="0">
                <a:latin typeface="+mj-lt"/>
              </a:rPr>
              <a:t>Patients with high anticipated mortality with conventional therapies</a:t>
            </a:r>
            <a:br>
              <a:rPr lang="en-US" sz="2800" dirty="0">
                <a:latin typeface="+mj-lt"/>
              </a:rPr>
            </a:br>
            <a:br>
              <a:rPr lang="en-US" sz="2800" dirty="0">
                <a:latin typeface="+mj-lt"/>
              </a:rPr>
            </a:br>
            <a:r>
              <a:rPr lang="en-US" sz="2800" dirty="0">
                <a:latin typeface="+mj-lt"/>
              </a:rPr>
              <a:t>and</a:t>
            </a:r>
            <a:br>
              <a:rPr lang="en-US" sz="2800" dirty="0">
                <a:latin typeface="+mj-lt"/>
              </a:rPr>
            </a:br>
            <a:endParaRPr lang="en-US" sz="2800" dirty="0">
              <a:latin typeface="+mj-lt"/>
            </a:endParaRPr>
          </a:p>
          <a:p>
            <a:pPr lvl="1"/>
            <a:r>
              <a:rPr lang="en-US" sz="2800" dirty="0">
                <a:latin typeface="+mj-lt"/>
              </a:rPr>
              <a:t>Patients who would be more likely to receive benefit than harm from ECMO</a:t>
            </a:r>
            <a:br>
              <a:rPr lang="en-US" sz="2800" dirty="0">
                <a:latin typeface="+mj-lt"/>
              </a:rPr>
            </a:br>
            <a:br>
              <a:rPr lang="en-US" sz="2800" dirty="0">
                <a:latin typeface="+mj-lt"/>
              </a:rPr>
            </a:br>
            <a:r>
              <a:rPr lang="en-US" sz="2800" dirty="0">
                <a:latin typeface="+mj-lt"/>
              </a:rPr>
              <a:t>and</a:t>
            </a:r>
            <a:br>
              <a:rPr lang="en-US" sz="2800" dirty="0">
                <a:latin typeface="+mj-lt"/>
              </a:rPr>
            </a:br>
            <a:endParaRPr lang="en-US" sz="2800" dirty="0">
              <a:latin typeface="+mj-lt"/>
            </a:endParaRPr>
          </a:p>
          <a:p>
            <a:pPr lvl="1"/>
            <a:r>
              <a:rPr lang="en-US" sz="2800" dirty="0">
                <a:latin typeface="+mj-lt"/>
              </a:rPr>
              <a:t>Patients with a reversible/and or transplantable pathology</a:t>
            </a:r>
            <a:br>
              <a:rPr lang="en-US" sz="2800" dirty="0">
                <a:latin typeface="+mj-lt"/>
              </a:rPr>
            </a:br>
            <a:endParaRPr lang="en-US" sz="2800" dirty="0">
              <a:latin typeface="+mj-lt"/>
            </a:endParaRPr>
          </a:p>
        </p:txBody>
      </p:sp>
      <p:sp>
        <p:nvSpPr>
          <p:cNvPr id="4" name="TextBox 3">
            <a:extLst>
              <a:ext uri="{FF2B5EF4-FFF2-40B4-BE49-F238E27FC236}">
                <a16:creationId xmlns:a16="http://schemas.microsoft.com/office/drawing/2014/main" id="{89DFF556-06CA-4A8F-D2D2-E5C0E928DCB6}"/>
              </a:ext>
            </a:extLst>
          </p:cNvPr>
          <p:cNvSpPr txBox="1"/>
          <p:nvPr/>
        </p:nvSpPr>
        <p:spPr>
          <a:xfrm>
            <a:off x="7157653" y="6254970"/>
            <a:ext cx="4424747" cy="584775"/>
          </a:xfrm>
          <a:prstGeom prst="rect">
            <a:avLst/>
          </a:prstGeom>
          <a:noFill/>
        </p:spPr>
        <p:txBody>
          <a:bodyPr wrap="square" rtlCol="0">
            <a:spAutoFit/>
          </a:bodyPr>
          <a:lstStyle/>
          <a:p>
            <a:r>
              <a:rPr lang="en-US" sz="1600" dirty="0">
                <a:latin typeface="+mj-lt"/>
              </a:rPr>
              <a:t>ASAIO J.: 2020 Indications for Pediatric Respiratory ECMO (</a:t>
            </a:r>
            <a:r>
              <a:rPr lang="en-US" sz="1600" kern="100" dirty="0">
                <a:latin typeface="+mj-lt"/>
                <a:ea typeface="Aptos" panose="020B0004020202020204" pitchFamily="34" charset="0"/>
              </a:rPr>
              <a:t>Maratta [2020]</a:t>
            </a:r>
            <a:r>
              <a:rPr lang="en-US" sz="1600" dirty="0">
                <a:latin typeface="+mj-lt"/>
              </a:rPr>
              <a:t>)</a:t>
            </a:r>
          </a:p>
        </p:txBody>
      </p:sp>
    </p:spTree>
    <p:extLst>
      <p:ext uri="{BB962C8B-B14F-4D97-AF65-F5344CB8AC3E}">
        <p14:creationId xmlns:p14="http://schemas.microsoft.com/office/powerpoint/2010/main" val="3125277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105A3-CF29-571C-5DAC-AFB017892DE5}"/>
              </a:ext>
            </a:extLst>
          </p:cNvPr>
          <p:cNvSpPr>
            <a:spLocks noGrp="1"/>
          </p:cNvSpPr>
          <p:nvPr>
            <p:ph type="title"/>
          </p:nvPr>
        </p:nvSpPr>
        <p:spPr>
          <a:xfrm>
            <a:off x="0" y="12623"/>
            <a:ext cx="10515600" cy="1325563"/>
          </a:xfrm>
        </p:spPr>
        <p:txBody>
          <a:bodyPr/>
          <a:lstStyle/>
          <a:p>
            <a:r>
              <a:rPr lang="en-US" dirty="0"/>
              <a:t>Changes in ECMO Contraindications</a:t>
            </a:r>
          </a:p>
        </p:txBody>
      </p:sp>
      <p:sp>
        <p:nvSpPr>
          <p:cNvPr id="13" name="TextBox 12">
            <a:extLst>
              <a:ext uri="{FF2B5EF4-FFF2-40B4-BE49-F238E27FC236}">
                <a16:creationId xmlns:a16="http://schemas.microsoft.com/office/drawing/2014/main" id="{815E4F91-9657-95CC-17C5-460FCEEBD484}"/>
              </a:ext>
            </a:extLst>
          </p:cNvPr>
          <p:cNvSpPr txBox="1"/>
          <p:nvPr/>
        </p:nvSpPr>
        <p:spPr>
          <a:xfrm>
            <a:off x="7767253" y="6027003"/>
            <a:ext cx="4424747" cy="830997"/>
          </a:xfrm>
          <a:prstGeom prst="rect">
            <a:avLst/>
          </a:prstGeom>
          <a:noFill/>
        </p:spPr>
        <p:txBody>
          <a:bodyPr wrap="square" rtlCol="0">
            <a:spAutoFit/>
          </a:bodyPr>
          <a:lstStyle/>
          <a:p>
            <a:r>
              <a:rPr lang="en-US" sz="1600" dirty="0">
                <a:latin typeface="+mj-lt"/>
              </a:rPr>
              <a:t>ELSO: 2015 Indications for Pediatric Respiratory ECMO (MacLaren [2015]), 2020 Indications for Pediatric Respiratory ECMO (</a:t>
            </a:r>
            <a:r>
              <a:rPr lang="en-US" sz="1600" kern="100" dirty="0">
                <a:latin typeface="+mj-lt"/>
                <a:ea typeface="Aptos" panose="020B0004020202020204" pitchFamily="34" charset="0"/>
              </a:rPr>
              <a:t>Maratta [2020]</a:t>
            </a:r>
            <a:r>
              <a:rPr lang="en-US" sz="1600" dirty="0">
                <a:latin typeface="+mj-lt"/>
              </a:rPr>
              <a:t>)</a:t>
            </a:r>
          </a:p>
        </p:txBody>
      </p:sp>
      <p:sp>
        <p:nvSpPr>
          <p:cNvPr id="12" name="Rectangle 4">
            <a:extLst>
              <a:ext uri="{FF2B5EF4-FFF2-40B4-BE49-F238E27FC236}">
                <a16:creationId xmlns:a16="http://schemas.microsoft.com/office/drawing/2014/main" id="{1D2B7542-C074-9329-79BF-16535ED5D719}"/>
              </a:ext>
            </a:extLst>
          </p:cNvPr>
          <p:cNvSpPr>
            <a:spLocks noChangeArrowheads="1"/>
          </p:cNvSpPr>
          <p:nvPr/>
        </p:nvSpPr>
        <p:spPr bwMode="auto">
          <a:xfrm>
            <a:off x="0" y="1806207"/>
            <a:ext cx="14135652" cy="559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7" name="Rectangle 6">
            <a:extLst>
              <a:ext uri="{FF2B5EF4-FFF2-40B4-BE49-F238E27FC236}">
                <a16:creationId xmlns:a16="http://schemas.microsoft.com/office/drawing/2014/main" id="{29ABBE17-091B-5853-2155-D56212590B73}"/>
              </a:ext>
            </a:extLst>
          </p:cNvPr>
          <p:cNvSpPr>
            <a:spLocks noChangeArrowheads="1"/>
          </p:cNvSpPr>
          <p:nvPr/>
        </p:nvSpPr>
        <p:spPr bwMode="auto">
          <a:xfrm>
            <a:off x="72073" y="1554315"/>
            <a:ext cx="16198928" cy="43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20" name="Table 19">
            <a:extLst>
              <a:ext uri="{FF2B5EF4-FFF2-40B4-BE49-F238E27FC236}">
                <a16:creationId xmlns:a16="http://schemas.microsoft.com/office/drawing/2014/main" id="{22814A76-4284-2B95-086C-71966684CBB3}"/>
              </a:ext>
            </a:extLst>
          </p:cNvPr>
          <p:cNvGraphicFramePr>
            <a:graphicFrameLocks noGrp="1"/>
          </p:cNvGraphicFramePr>
          <p:nvPr>
            <p:extLst>
              <p:ext uri="{D42A27DB-BD31-4B8C-83A1-F6EECF244321}">
                <p14:modId xmlns:p14="http://schemas.microsoft.com/office/powerpoint/2010/main" val="841225437"/>
              </p:ext>
            </p:extLst>
          </p:nvPr>
        </p:nvGraphicFramePr>
        <p:xfrm>
          <a:off x="36036" y="2207807"/>
          <a:ext cx="12119928" cy="2343215"/>
        </p:xfrm>
        <a:graphic>
          <a:graphicData uri="http://schemas.openxmlformats.org/drawingml/2006/table">
            <a:tbl>
              <a:tblPr firstRow="1" firstCol="1" bandRow="1"/>
              <a:tblGrid>
                <a:gridCol w="6059964">
                  <a:extLst>
                    <a:ext uri="{9D8B030D-6E8A-4147-A177-3AD203B41FA5}">
                      <a16:colId xmlns:a16="http://schemas.microsoft.com/office/drawing/2014/main" val="3050230048"/>
                    </a:ext>
                  </a:extLst>
                </a:gridCol>
                <a:gridCol w="6059964">
                  <a:extLst>
                    <a:ext uri="{9D8B030D-6E8A-4147-A177-3AD203B41FA5}">
                      <a16:colId xmlns:a16="http://schemas.microsoft.com/office/drawing/2014/main" val="3080322170"/>
                    </a:ext>
                  </a:extLst>
                </a:gridCol>
              </a:tblGrid>
              <a:tr h="296854">
                <a:tc>
                  <a:txBody>
                    <a:bodyPr/>
                    <a:lstStyle/>
                    <a:p>
                      <a:pPr marL="0" marR="0">
                        <a:lnSpc>
                          <a:spcPct val="107000"/>
                        </a:lnSpc>
                        <a:spcAft>
                          <a:spcPts val="800"/>
                        </a:spcAft>
                        <a:buNone/>
                      </a:pPr>
                      <a:r>
                        <a:rPr lang="en-US" sz="1800" b="1" i="1" kern="100" dirty="0">
                          <a:effectLst/>
                          <a:latin typeface="Calibri Light" panose="020F0302020204030204" pitchFamily="34" charset="0"/>
                          <a:ea typeface="Aptos" panose="020B0004020202020204" pitchFamily="34" charset="0"/>
                        </a:rPr>
                        <a:t>Absolute contraindications</a:t>
                      </a:r>
                      <a:endParaRPr lang="en-US" sz="1000" kern="100" dirty="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tc>
                  <a:txBody>
                    <a:bodyPr/>
                    <a:lstStyle/>
                    <a:p>
                      <a:pPr marL="0" marR="0">
                        <a:lnSpc>
                          <a:spcPct val="107000"/>
                        </a:lnSpc>
                        <a:spcAft>
                          <a:spcPts val="800"/>
                        </a:spcAft>
                        <a:buNone/>
                      </a:pPr>
                      <a:r>
                        <a:rPr lang="en-US" sz="1800" b="1" i="1" kern="100" dirty="0">
                          <a:effectLst/>
                          <a:latin typeface="Calibri Light" panose="020F0302020204030204" pitchFamily="34" charset="0"/>
                          <a:ea typeface="Aptos" panose="020B0004020202020204" pitchFamily="34" charset="0"/>
                        </a:rPr>
                        <a:t>Conditions rendering patient unlikely to benefit from ECMO</a:t>
                      </a:r>
                      <a:endParaRPr lang="en-US" sz="1000" kern="100" dirty="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3403760634"/>
                  </a:ext>
                </a:extLst>
              </a:tr>
              <a:tr h="288505">
                <a:tc>
                  <a:txBody>
                    <a:bodyPr/>
                    <a:lstStyle/>
                    <a:p>
                      <a:pPr marL="0" marR="0">
                        <a:lnSpc>
                          <a:spcPct val="107000"/>
                        </a:lnSpc>
                        <a:spcAft>
                          <a:spcPts val="800"/>
                        </a:spcAft>
                        <a:buNone/>
                      </a:pPr>
                      <a:r>
                        <a:rPr lang="en-US" sz="1400" kern="100" dirty="0">
                          <a:effectLst/>
                          <a:latin typeface="Calibri Light" panose="020F0302020204030204" pitchFamily="34" charset="0"/>
                          <a:ea typeface="Aptos" panose="020B0004020202020204" pitchFamily="34" charset="0"/>
                        </a:rPr>
                        <a:t>Lethal chromosomal abnormalities (</a:t>
                      </a:r>
                      <a:r>
                        <a:rPr lang="en-US" sz="1400" kern="100" dirty="0" err="1">
                          <a:effectLst/>
                          <a:latin typeface="Calibri Light" panose="020F0302020204030204" pitchFamily="34" charset="0"/>
                          <a:ea typeface="Aptos" panose="020B0004020202020204" pitchFamily="34" charset="0"/>
                        </a:rPr>
                        <a:t>eg.</a:t>
                      </a:r>
                      <a:r>
                        <a:rPr lang="en-US" sz="1400" kern="100" dirty="0">
                          <a:effectLst/>
                          <a:latin typeface="Calibri Light" panose="020F0302020204030204" pitchFamily="34" charset="0"/>
                          <a:ea typeface="Aptos" panose="020B0004020202020204" pitchFamily="34" charset="0"/>
                        </a:rPr>
                        <a:t> Trisomy 13 or 18)</a:t>
                      </a:r>
                      <a:endParaRPr lang="en-US" sz="1400" kern="100" dirty="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tc>
                  <a:txBody>
                    <a:bodyPr/>
                    <a:lstStyle/>
                    <a:p>
                      <a:pPr marL="0" marR="0">
                        <a:lnSpc>
                          <a:spcPct val="107000"/>
                        </a:lnSpc>
                        <a:spcAft>
                          <a:spcPts val="800"/>
                        </a:spcAft>
                        <a:buNone/>
                      </a:pPr>
                      <a:r>
                        <a:rPr lang="en-US" sz="1400" kern="100" dirty="0">
                          <a:effectLst/>
                          <a:latin typeface="Calibri Light" panose="020F0302020204030204" pitchFamily="34" charset="0"/>
                          <a:ea typeface="Aptos" panose="020B0004020202020204" pitchFamily="34" charset="0"/>
                        </a:rPr>
                        <a:t>Large intracranial bleed with mass effect or need for neurosurgical intervention</a:t>
                      </a:r>
                      <a:endParaRPr lang="en-US" sz="1400" kern="100" dirty="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3847349258"/>
                  </a:ext>
                </a:extLst>
              </a:tr>
              <a:tr h="288234">
                <a:tc>
                  <a:txBody>
                    <a:bodyPr/>
                    <a:lstStyle/>
                    <a:p>
                      <a:pPr marL="0" marR="0">
                        <a:lnSpc>
                          <a:spcPct val="107000"/>
                        </a:lnSpc>
                        <a:spcAft>
                          <a:spcPts val="800"/>
                        </a:spcAft>
                        <a:buNone/>
                      </a:pPr>
                      <a:r>
                        <a:rPr lang="en-US" sz="1400" kern="100" dirty="0">
                          <a:effectLst/>
                          <a:latin typeface="Calibri Light" panose="020F0302020204030204" pitchFamily="34" charset="0"/>
                          <a:ea typeface="Aptos" panose="020B0004020202020204" pitchFamily="34" charset="0"/>
                        </a:rPr>
                        <a:t>Severe neurological compromise (</a:t>
                      </a:r>
                      <a:r>
                        <a:rPr lang="en-US" sz="1400" kern="100" dirty="0" err="1">
                          <a:effectLst/>
                          <a:latin typeface="Calibri Light" panose="020F0302020204030204" pitchFamily="34" charset="0"/>
                          <a:ea typeface="Aptos" panose="020B0004020202020204" pitchFamily="34" charset="0"/>
                        </a:rPr>
                        <a:t>eg.</a:t>
                      </a:r>
                      <a:r>
                        <a:rPr lang="en-US" sz="1400" kern="100" dirty="0">
                          <a:effectLst/>
                          <a:latin typeface="Calibri Light" panose="020F0302020204030204" pitchFamily="34" charset="0"/>
                          <a:ea typeface="Aptos" panose="020B0004020202020204" pitchFamily="34" charset="0"/>
                        </a:rPr>
                        <a:t> Intracranial hemorrhage with mass effect)</a:t>
                      </a:r>
                      <a:endParaRPr lang="en-US" sz="1400" kern="100" dirty="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tc>
                  <a:txBody>
                    <a:bodyPr/>
                    <a:lstStyle/>
                    <a:p>
                      <a:pPr marL="0" marR="0">
                        <a:lnSpc>
                          <a:spcPct val="107000"/>
                        </a:lnSpc>
                        <a:spcAft>
                          <a:spcPts val="800"/>
                        </a:spcAft>
                        <a:buNone/>
                      </a:pPr>
                      <a:r>
                        <a:rPr lang="en-US" sz="1400" kern="100" dirty="0">
                          <a:effectLst/>
                          <a:latin typeface="Calibri Light" panose="020F0302020204030204" pitchFamily="34" charset="0"/>
                          <a:ea typeface="Aptos" panose="020B0004020202020204" pitchFamily="34" charset="0"/>
                        </a:rPr>
                        <a:t>Hypoxic cardiac arrest with adequate CPR</a:t>
                      </a:r>
                      <a:endParaRPr lang="en-US" sz="1400" kern="100" dirty="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2703209834"/>
                  </a:ext>
                </a:extLst>
              </a:tr>
              <a:tr h="298174">
                <a:tc>
                  <a:txBody>
                    <a:bodyPr/>
                    <a:lstStyle/>
                    <a:p>
                      <a:pPr marL="0" marR="0">
                        <a:lnSpc>
                          <a:spcPct val="107000"/>
                        </a:lnSpc>
                        <a:spcAft>
                          <a:spcPts val="800"/>
                        </a:spcAft>
                        <a:buNone/>
                      </a:pPr>
                      <a:r>
                        <a:rPr lang="en-US" sz="1400" kern="100" dirty="0">
                          <a:effectLst/>
                          <a:latin typeface="Calibri Light" panose="020F0302020204030204" pitchFamily="34" charset="0"/>
                          <a:ea typeface="Aptos" panose="020B0004020202020204" pitchFamily="34" charset="0"/>
                        </a:rPr>
                        <a:t>Allogenic bone marrow transplant recipients with pulmonary infiltrates</a:t>
                      </a:r>
                      <a:endParaRPr lang="en-US" sz="1400" kern="100" dirty="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tc>
                  <a:txBody>
                    <a:bodyPr/>
                    <a:lstStyle/>
                    <a:p>
                      <a:pPr marL="0" marR="0">
                        <a:lnSpc>
                          <a:spcPct val="107000"/>
                        </a:lnSpc>
                        <a:spcAft>
                          <a:spcPts val="800"/>
                        </a:spcAft>
                        <a:buNone/>
                      </a:pPr>
                      <a:r>
                        <a:rPr lang="en-US" sz="1400" kern="100">
                          <a:effectLst/>
                          <a:latin typeface="Calibri Light" panose="020F0302020204030204" pitchFamily="34" charset="0"/>
                          <a:ea typeface="Aptos" panose="020B0004020202020204" pitchFamily="34" charset="0"/>
                        </a:rPr>
                        <a:t>Irreversible underlying cardiac or lung pathology (and not a transplant candidate)</a:t>
                      </a:r>
                      <a:endParaRPr lang="en-US" sz="1400" kern="10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545233171"/>
                  </a:ext>
                </a:extLst>
              </a:tr>
              <a:tr h="292862">
                <a:tc>
                  <a:txBody>
                    <a:bodyPr/>
                    <a:lstStyle/>
                    <a:p>
                      <a:pPr marL="0" marR="0">
                        <a:lnSpc>
                          <a:spcPct val="107000"/>
                        </a:lnSpc>
                        <a:spcAft>
                          <a:spcPts val="800"/>
                        </a:spcAft>
                        <a:buNone/>
                      </a:pPr>
                      <a:r>
                        <a:rPr lang="en-US" sz="1400" kern="100" dirty="0">
                          <a:effectLst/>
                          <a:latin typeface="Calibri Light" panose="020F0302020204030204" pitchFamily="34" charset="0"/>
                          <a:ea typeface="Aptos" panose="020B0004020202020204" pitchFamily="34" charset="0"/>
                        </a:rPr>
                        <a:t>Incurable malignancy</a:t>
                      </a:r>
                      <a:endParaRPr lang="en-US" sz="1400" kern="100" dirty="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tc>
                  <a:txBody>
                    <a:bodyPr/>
                    <a:lstStyle/>
                    <a:p>
                      <a:pPr marL="0" marR="0">
                        <a:lnSpc>
                          <a:spcPct val="107000"/>
                        </a:lnSpc>
                        <a:spcAft>
                          <a:spcPts val="800"/>
                        </a:spcAft>
                        <a:buNone/>
                      </a:pPr>
                      <a:r>
                        <a:rPr lang="en-US" sz="1400" kern="100" dirty="0">
                          <a:effectLst/>
                          <a:latin typeface="Calibri Light" panose="020F0302020204030204" pitchFamily="34" charset="0"/>
                          <a:ea typeface="Aptos" panose="020B0004020202020204" pitchFamily="34" charset="0"/>
                        </a:rPr>
                        <a:t>Pulmonary hypertension and chronic lung disease</a:t>
                      </a:r>
                      <a:endParaRPr lang="en-US" sz="1400" kern="100" dirty="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861082157"/>
                  </a:ext>
                </a:extLst>
              </a:tr>
              <a:tr h="292862">
                <a:tc>
                  <a:txBody>
                    <a:bodyPr/>
                    <a:lstStyle/>
                    <a:p>
                      <a:pPr marL="0" marR="0">
                        <a:lnSpc>
                          <a:spcPct val="107000"/>
                        </a:lnSpc>
                        <a:spcAft>
                          <a:spcPts val="800"/>
                        </a:spcAft>
                        <a:buNone/>
                      </a:pPr>
                      <a:r>
                        <a:rPr lang="en-US" sz="1400" kern="100">
                          <a:effectLst/>
                          <a:latin typeface="Calibri Light" panose="020F0302020204030204" pitchFamily="34" charset="0"/>
                          <a:ea typeface="Aptos" panose="020B0004020202020204" pitchFamily="34" charset="0"/>
                        </a:rPr>
                        <a:t> </a:t>
                      </a:r>
                      <a:endParaRPr lang="en-US" sz="1400" kern="10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tc>
                  <a:txBody>
                    <a:bodyPr/>
                    <a:lstStyle/>
                    <a:p>
                      <a:pPr marL="0" marR="0">
                        <a:lnSpc>
                          <a:spcPct val="107000"/>
                        </a:lnSpc>
                        <a:spcAft>
                          <a:spcPts val="800"/>
                        </a:spcAft>
                        <a:buNone/>
                      </a:pPr>
                      <a:r>
                        <a:rPr lang="en-US" sz="1400" kern="100" dirty="0">
                          <a:effectLst/>
                          <a:latin typeface="Calibri Light" panose="020F0302020204030204" pitchFamily="34" charset="0"/>
                          <a:ea typeface="Aptos" panose="020B0004020202020204" pitchFamily="34" charset="0"/>
                        </a:rPr>
                        <a:t>Chronic multiorgan dysfunction</a:t>
                      </a:r>
                      <a:endParaRPr lang="en-US" sz="1400" kern="100" dirty="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3964639364"/>
                  </a:ext>
                </a:extLst>
              </a:tr>
              <a:tr h="292862">
                <a:tc>
                  <a:txBody>
                    <a:bodyPr/>
                    <a:lstStyle/>
                    <a:p>
                      <a:pPr marL="0" marR="0">
                        <a:lnSpc>
                          <a:spcPct val="107000"/>
                        </a:lnSpc>
                        <a:spcAft>
                          <a:spcPts val="800"/>
                        </a:spcAft>
                        <a:buNone/>
                      </a:pPr>
                      <a:r>
                        <a:rPr lang="en-US" sz="1400" kern="100">
                          <a:effectLst/>
                          <a:latin typeface="Calibri Light" panose="020F0302020204030204" pitchFamily="34" charset="0"/>
                          <a:ea typeface="Aptos" panose="020B0004020202020204" pitchFamily="34" charset="0"/>
                        </a:rPr>
                        <a:t> </a:t>
                      </a:r>
                      <a:endParaRPr lang="en-US" sz="1400" kern="10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tc>
                  <a:txBody>
                    <a:bodyPr/>
                    <a:lstStyle/>
                    <a:p>
                      <a:pPr marL="0" marR="0">
                        <a:lnSpc>
                          <a:spcPct val="107000"/>
                        </a:lnSpc>
                        <a:spcAft>
                          <a:spcPts val="800"/>
                        </a:spcAft>
                        <a:buNone/>
                      </a:pPr>
                      <a:r>
                        <a:rPr lang="en-US" sz="1400" kern="100">
                          <a:effectLst/>
                          <a:latin typeface="Calibri Light" panose="020F0302020204030204" pitchFamily="34" charset="0"/>
                          <a:ea typeface="Aptos" panose="020B0004020202020204" pitchFamily="34" charset="0"/>
                        </a:rPr>
                        <a:t>Incurable malignancy</a:t>
                      </a:r>
                      <a:endParaRPr lang="en-US" sz="1400" kern="10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69118554"/>
                  </a:ext>
                </a:extLst>
              </a:tr>
              <a:tr h="292862">
                <a:tc>
                  <a:txBody>
                    <a:bodyPr/>
                    <a:lstStyle/>
                    <a:p>
                      <a:pPr marL="0" marR="0">
                        <a:lnSpc>
                          <a:spcPct val="107000"/>
                        </a:lnSpc>
                        <a:spcAft>
                          <a:spcPts val="800"/>
                        </a:spcAft>
                        <a:buNone/>
                      </a:pPr>
                      <a:r>
                        <a:rPr lang="en-US" sz="1400" kern="100">
                          <a:effectLst/>
                          <a:latin typeface="Calibri Light" panose="020F0302020204030204" pitchFamily="34" charset="0"/>
                          <a:ea typeface="Aptos" panose="020B0004020202020204" pitchFamily="34" charset="0"/>
                        </a:rPr>
                        <a:t> </a:t>
                      </a:r>
                      <a:endParaRPr lang="en-US" sz="1400" kern="10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tc>
                  <a:txBody>
                    <a:bodyPr/>
                    <a:lstStyle/>
                    <a:p>
                      <a:pPr marL="0" marR="0">
                        <a:lnSpc>
                          <a:spcPct val="107000"/>
                        </a:lnSpc>
                        <a:spcAft>
                          <a:spcPts val="800"/>
                        </a:spcAft>
                        <a:buNone/>
                      </a:pPr>
                      <a:r>
                        <a:rPr lang="en-US" sz="1400" kern="100" dirty="0">
                          <a:effectLst/>
                          <a:latin typeface="Calibri Light" panose="020F0302020204030204" pitchFamily="34" charset="0"/>
                          <a:ea typeface="Aptos" panose="020B0004020202020204" pitchFamily="34" charset="0"/>
                        </a:rPr>
                        <a:t>Allogenic bone marrow recipients with pulmonary infiltrates</a:t>
                      </a:r>
                      <a:endParaRPr lang="en-US" sz="1400" kern="100" dirty="0">
                        <a:effectLst/>
                        <a:latin typeface="Calibri" panose="020F0502020204030204" pitchFamily="34" charset="0"/>
                        <a:ea typeface="Aptos" panose="020B00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2275730246"/>
                  </a:ext>
                </a:extLst>
              </a:tr>
            </a:tbl>
          </a:graphicData>
        </a:graphic>
      </p:graphicFrame>
      <p:sp>
        <p:nvSpPr>
          <p:cNvPr id="21" name="Rectangle 8">
            <a:extLst>
              <a:ext uri="{FF2B5EF4-FFF2-40B4-BE49-F238E27FC236}">
                <a16:creationId xmlns:a16="http://schemas.microsoft.com/office/drawing/2014/main" id="{EF4D5BB4-5FD9-B70B-B82A-7DBD8650DB7F}"/>
              </a:ext>
            </a:extLst>
          </p:cNvPr>
          <p:cNvSpPr>
            <a:spLocks noChangeArrowheads="1"/>
          </p:cNvSpPr>
          <p:nvPr/>
        </p:nvSpPr>
        <p:spPr bwMode="auto">
          <a:xfrm>
            <a:off x="72072" y="1555045"/>
            <a:ext cx="14052089" cy="537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412379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C02C5-E56B-0834-E451-82467C3A7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4342E9-5EF5-0DD0-89C1-D655A463083F}"/>
              </a:ext>
            </a:extLst>
          </p:cNvPr>
          <p:cNvSpPr>
            <a:spLocks noGrp="1"/>
          </p:cNvSpPr>
          <p:nvPr>
            <p:ph type="title" idx="4294967295"/>
          </p:nvPr>
        </p:nvSpPr>
        <p:spPr>
          <a:xfrm>
            <a:off x="0" y="0"/>
            <a:ext cx="10515600" cy="1325563"/>
          </a:xfrm>
        </p:spPr>
        <p:txBody>
          <a:bodyPr/>
          <a:lstStyle/>
          <a:p>
            <a:r>
              <a:rPr lang="en-US" dirty="0"/>
              <a:t>Defining High-Risk Populations</a:t>
            </a:r>
          </a:p>
        </p:txBody>
      </p:sp>
      <p:pic>
        <p:nvPicPr>
          <p:cNvPr id="7" name="Content Placeholder 6">
            <a:extLst>
              <a:ext uri="{FF2B5EF4-FFF2-40B4-BE49-F238E27FC236}">
                <a16:creationId xmlns:a16="http://schemas.microsoft.com/office/drawing/2014/main" id="{9B749072-2CC8-DE53-1B25-BED425D84C44}"/>
              </a:ext>
            </a:extLst>
          </p:cNvPr>
          <p:cNvPicPr>
            <a:picLocks noGrp="1" noChangeAspect="1"/>
          </p:cNvPicPr>
          <p:nvPr>
            <p:ph idx="4294967295"/>
          </p:nvPr>
        </p:nvPicPr>
        <p:blipFill>
          <a:blip r:embed="rId3"/>
          <a:stretch>
            <a:fillRect/>
          </a:stretch>
        </p:blipFill>
        <p:spPr>
          <a:xfrm>
            <a:off x="1034853" y="1325563"/>
            <a:ext cx="7664450" cy="4254500"/>
          </a:xfrm>
          <a:prstGeom prst="rect">
            <a:avLst/>
          </a:prstGeom>
        </p:spPr>
      </p:pic>
      <p:sp>
        <p:nvSpPr>
          <p:cNvPr id="8" name="TextBox 7">
            <a:extLst>
              <a:ext uri="{FF2B5EF4-FFF2-40B4-BE49-F238E27FC236}">
                <a16:creationId xmlns:a16="http://schemas.microsoft.com/office/drawing/2014/main" id="{8B0C21A5-32D5-84E4-AA04-8290F3FF0928}"/>
              </a:ext>
            </a:extLst>
          </p:cNvPr>
          <p:cNvSpPr txBox="1"/>
          <p:nvPr/>
        </p:nvSpPr>
        <p:spPr>
          <a:xfrm>
            <a:off x="7323116" y="6015463"/>
            <a:ext cx="4868884" cy="1077218"/>
          </a:xfrm>
          <a:prstGeom prst="rect">
            <a:avLst/>
          </a:prstGeom>
          <a:noFill/>
        </p:spPr>
        <p:txBody>
          <a:bodyPr wrap="square" rtlCol="0">
            <a:spAutoFit/>
          </a:bodyPr>
          <a:lstStyle/>
          <a:p>
            <a:r>
              <a:rPr lang="en-US" sz="1600" dirty="0">
                <a:latin typeface="+mj-lt"/>
              </a:rPr>
              <a:t>J </a:t>
            </a:r>
            <a:r>
              <a:rPr lang="en-US" sz="1600" dirty="0" err="1">
                <a:latin typeface="+mj-lt"/>
              </a:rPr>
              <a:t>Pediatr</a:t>
            </a:r>
            <a:r>
              <a:rPr lang="en-US" sz="1600" dirty="0">
                <a:latin typeface="+mj-lt"/>
              </a:rPr>
              <a:t>: Should Extracorporeal Membrane Oxygenation Be Offered? An International Survey</a:t>
            </a:r>
          </a:p>
          <a:p>
            <a:r>
              <a:rPr lang="en-US" sz="1600" dirty="0">
                <a:latin typeface="+mj-lt"/>
              </a:rPr>
              <a:t>(Kuo [2015])</a:t>
            </a:r>
          </a:p>
          <a:p>
            <a:endParaRPr lang="en-US" sz="1600" dirty="0">
              <a:latin typeface="+mj-lt"/>
            </a:endParaRPr>
          </a:p>
        </p:txBody>
      </p:sp>
      <p:sp>
        <p:nvSpPr>
          <p:cNvPr id="9" name="TextBox 8">
            <a:extLst>
              <a:ext uri="{FF2B5EF4-FFF2-40B4-BE49-F238E27FC236}">
                <a16:creationId xmlns:a16="http://schemas.microsoft.com/office/drawing/2014/main" id="{776D92E4-AB82-D9BE-7E33-0AC7A1754F0E}"/>
              </a:ext>
            </a:extLst>
          </p:cNvPr>
          <p:cNvSpPr txBox="1"/>
          <p:nvPr/>
        </p:nvSpPr>
        <p:spPr>
          <a:xfrm>
            <a:off x="8365401" y="2192338"/>
            <a:ext cx="3717132" cy="2800767"/>
          </a:xfrm>
          <a:prstGeom prst="rect">
            <a:avLst/>
          </a:prstGeom>
          <a:noFill/>
        </p:spPr>
        <p:txBody>
          <a:bodyPr wrap="square">
            <a:spAutoFit/>
          </a:bodyPr>
          <a:lstStyle/>
          <a:p>
            <a:pPr marL="742950" lvl="1" indent="-285750">
              <a:buFont typeface="Arial" panose="020B0604020202020204" pitchFamily="34" charset="0"/>
              <a:buChar char="•"/>
            </a:pPr>
            <a:r>
              <a:rPr lang="en-US" sz="1600" dirty="0">
                <a:latin typeface="+mj-lt"/>
              </a:rPr>
              <a:t>Patients with high anticipated mortality with conventional therapies</a:t>
            </a:r>
            <a:br>
              <a:rPr lang="en-US" sz="1600" dirty="0">
                <a:latin typeface="+mj-lt"/>
              </a:rPr>
            </a:br>
            <a:endParaRPr lang="en-US" sz="1600" dirty="0">
              <a:latin typeface="+mj-lt"/>
            </a:endParaRPr>
          </a:p>
          <a:p>
            <a:pPr marL="742950" lvl="1" indent="-285750">
              <a:buFont typeface="Arial" panose="020B0604020202020204" pitchFamily="34" charset="0"/>
              <a:buChar char="•"/>
            </a:pPr>
            <a:r>
              <a:rPr lang="en-US" sz="1600" dirty="0">
                <a:latin typeface="+mj-lt"/>
              </a:rPr>
              <a:t>Patients who would be more likely to receive benefit than harm from ECMO</a:t>
            </a:r>
            <a:br>
              <a:rPr lang="en-US" sz="1600" dirty="0">
                <a:latin typeface="+mj-lt"/>
              </a:rPr>
            </a:br>
            <a:endParaRPr lang="en-US" sz="1600" dirty="0">
              <a:latin typeface="+mj-lt"/>
            </a:endParaRPr>
          </a:p>
          <a:p>
            <a:pPr marL="742950" lvl="1" indent="-285750">
              <a:buFont typeface="Arial" panose="020B0604020202020204" pitchFamily="34" charset="0"/>
              <a:buChar char="•"/>
            </a:pPr>
            <a:r>
              <a:rPr lang="en-US" sz="1600" dirty="0">
                <a:latin typeface="+mj-lt"/>
              </a:rPr>
              <a:t>Patients with a reversible/and or transplantable pathology</a:t>
            </a:r>
            <a:br>
              <a:rPr lang="en-US" sz="1600" dirty="0">
                <a:latin typeface="+mj-lt"/>
              </a:rPr>
            </a:br>
            <a:endParaRPr lang="en-US" sz="1600" dirty="0">
              <a:latin typeface="+mj-lt"/>
            </a:endParaRPr>
          </a:p>
        </p:txBody>
      </p:sp>
      <p:cxnSp>
        <p:nvCxnSpPr>
          <p:cNvPr id="15" name="Straight Connector 14">
            <a:extLst>
              <a:ext uri="{FF2B5EF4-FFF2-40B4-BE49-F238E27FC236}">
                <a16:creationId xmlns:a16="http://schemas.microsoft.com/office/drawing/2014/main" id="{F46973FF-BD28-9E5A-C6C4-1BD300A204C8}"/>
              </a:ext>
            </a:extLst>
          </p:cNvPr>
          <p:cNvCxnSpPr>
            <a:cxnSpLocks/>
          </p:cNvCxnSpPr>
          <p:nvPr/>
        </p:nvCxnSpPr>
        <p:spPr>
          <a:xfrm>
            <a:off x="6783630" y="4839732"/>
            <a:ext cx="0" cy="226875"/>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E2ED6735-021F-FF1F-27C4-CFD1A04184BC}"/>
              </a:ext>
            </a:extLst>
          </p:cNvPr>
          <p:cNvSpPr/>
          <p:nvPr/>
        </p:nvSpPr>
        <p:spPr>
          <a:xfrm>
            <a:off x="1034852" y="1526564"/>
            <a:ext cx="7264413" cy="409026"/>
          </a:xfrm>
          <a:prstGeom prst="rect">
            <a:avLst/>
          </a:prstGeom>
          <a:solidFill>
            <a:schemeClr val="bg1"/>
          </a:solidFill>
          <a:ln w="508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DE1EBF-6770-A458-1BB6-50689B41329A}"/>
              </a:ext>
            </a:extLst>
          </p:cNvPr>
          <p:cNvSpPr/>
          <p:nvPr/>
        </p:nvSpPr>
        <p:spPr>
          <a:xfrm>
            <a:off x="1034852" y="2989327"/>
            <a:ext cx="7264413" cy="409026"/>
          </a:xfrm>
          <a:prstGeom prst="rect">
            <a:avLst/>
          </a:prstGeom>
          <a:solidFill>
            <a:schemeClr val="bg1"/>
          </a:solidFill>
          <a:ln w="508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9FC09A4-4DEC-6D62-9BE0-33AFD7F3DD5E}"/>
              </a:ext>
            </a:extLst>
          </p:cNvPr>
          <p:cNvSpPr txBox="1"/>
          <p:nvPr/>
        </p:nvSpPr>
        <p:spPr>
          <a:xfrm>
            <a:off x="1034851" y="2330326"/>
            <a:ext cx="2791745" cy="338554"/>
          </a:xfrm>
          <a:prstGeom prst="rect">
            <a:avLst/>
          </a:prstGeom>
          <a:solidFill>
            <a:schemeClr val="bg1"/>
          </a:solidFill>
        </p:spPr>
        <p:txBody>
          <a:bodyPr wrap="square" rtlCol="0">
            <a:spAutoFit/>
          </a:bodyPr>
          <a:lstStyle/>
          <a:p>
            <a:r>
              <a:rPr lang="en-US" sz="1600" dirty="0">
                <a:latin typeface="+mj-lt"/>
              </a:rPr>
              <a:t>Trauma</a:t>
            </a:r>
          </a:p>
        </p:txBody>
      </p:sp>
      <p:sp>
        <p:nvSpPr>
          <p:cNvPr id="14" name="TextBox 13">
            <a:extLst>
              <a:ext uri="{FF2B5EF4-FFF2-40B4-BE49-F238E27FC236}">
                <a16:creationId xmlns:a16="http://schemas.microsoft.com/office/drawing/2014/main" id="{9D6BFCA6-8FF1-CA6D-7BE0-011636541D71}"/>
              </a:ext>
            </a:extLst>
          </p:cNvPr>
          <p:cNvSpPr txBox="1"/>
          <p:nvPr/>
        </p:nvSpPr>
        <p:spPr>
          <a:xfrm>
            <a:off x="1034851" y="3764809"/>
            <a:ext cx="2791745" cy="338554"/>
          </a:xfrm>
          <a:prstGeom prst="rect">
            <a:avLst/>
          </a:prstGeom>
          <a:solidFill>
            <a:schemeClr val="bg1"/>
          </a:solidFill>
        </p:spPr>
        <p:txBody>
          <a:bodyPr wrap="square" rtlCol="0">
            <a:spAutoFit/>
          </a:bodyPr>
          <a:lstStyle/>
          <a:p>
            <a:r>
              <a:rPr lang="en-US" sz="1600" dirty="0">
                <a:latin typeface="+mj-lt"/>
              </a:rPr>
              <a:t>Trisomy 13/18</a:t>
            </a:r>
          </a:p>
        </p:txBody>
      </p:sp>
      <p:sp>
        <p:nvSpPr>
          <p:cNvPr id="16" name="TextBox 15">
            <a:extLst>
              <a:ext uri="{FF2B5EF4-FFF2-40B4-BE49-F238E27FC236}">
                <a16:creationId xmlns:a16="http://schemas.microsoft.com/office/drawing/2014/main" id="{E3AC75AE-3B13-6BF6-8458-090DE5B977AF}"/>
              </a:ext>
            </a:extLst>
          </p:cNvPr>
          <p:cNvSpPr txBox="1"/>
          <p:nvPr/>
        </p:nvSpPr>
        <p:spPr>
          <a:xfrm>
            <a:off x="1034851" y="4495107"/>
            <a:ext cx="2791745" cy="338554"/>
          </a:xfrm>
          <a:prstGeom prst="rect">
            <a:avLst/>
          </a:prstGeom>
          <a:solidFill>
            <a:schemeClr val="bg1"/>
          </a:solidFill>
        </p:spPr>
        <p:txBody>
          <a:bodyPr wrap="square" rtlCol="0">
            <a:spAutoFit/>
          </a:bodyPr>
          <a:lstStyle/>
          <a:p>
            <a:r>
              <a:rPr lang="en-US" sz="1600" dirty="0">
                <a:latin typeface="+mj-lt"/>
              </a:rPr>
              <a:t>Oncologic</a:t>
            </a:r>
          </a:p>
        </p:txBody>
      </p:sp>
      <p:cxnSp>
        <p:nvCxnSpPr>
          <p:cNvPr id="10" name="Straight Connector 9">
            <a:extLst>
              <a:ext uri="{FF2B5EF4-FFF2-40B4-BE49-F238E27FC236}">
                <a16:creationId xmlns:a16="http://schemas.microsoft.com/office/drawing/2014/main" id="{CBAD75B7-F813-A2BB-27AB-E37681B4EACA}"/>
              </a:ext>
            </a:extLst>
          </p:cNvPr>
          <p:cNvCxnSpPr>
            <a:cxnSpLocks/>
          </p:cNvCxnSpPr>
          <p:nvPr/>
        </p:nvCxnSpPr>
        <p:spPr>
          <a:xfrm>
            <a:off x="7183031" y="2605358"/>
            <a:ext cx="0" cy="2461249"/>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41F24B4-4EEF-9386-DF25-18DC6AA36776}"/>
              </a:ext>
            </a:extLst>
          </p:cNvPr>
          <p:cNvCxnSpPr>
            <a:cxnSpLocks/>
          </p:cNvCxnSpPr>
          <p:nvPr/>
        </p:nvCxnSpPr>
        <p:spPr>
          <a:xfrm>
            <a:off x="5205597" y="4103363"/>
            <a:ext cx="0" cy="963244"/>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6526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1B6DD-A50A-DC59-028F-1E256184E2E2}"/>
              </a:ext>
            </a:extLst>
          </p:cNvPr>
          <p:cNvSpPr>
            <a:spLocks noGrp="1"/>
          </p:cNvSpPr>
          <p:nvPr>
            <p:ph type="title"/>
          </p:nvPr>
        </p:nvSpPr>
        <p:spPr>
          <a:xfrm>
            <a:off x="0" y="18255"/>
            <a:ext cx="10515600" cy="1325563"/>
          </a:xfrm>
        </p:spPr>
        <p:txBody>
          <a:bodyPr/>
          <a:lstStyle/>
          <a:p>
            <a:r>
              <a:rPr lang="en-US" dirty="0"/>
              <a:t>Our Questions</a:t>
            </a:r>
          </a:p>
        </p:txBody>
      </p:sp>
      <p:sp>
        <p:nvSpPr>
          <p:cNvPr id="4" name="TextBox 3">
            <a:extLst>
              <a:ext uri="{FF2B5EF4-FFF2-40B4-BE49-F238E27FC236}">
                <a16:creationId xmlns:a16="http://schemas.microsoft.com/office/drawing/2014/main" id="{6F09C083-F9C3-A6BA-A2EA-1688E6017FF4}"/>
              </a:ext>
            </a:extLst>
          </p:cNvPr>
          <p:cNvSpPr txBox="1"/>
          <p:nvPr/>
        </p:nvSpPr>
        <p:spPr>
          <a:xfrm>
            <a:off x="-33918" y="1540954"/>
            <a:ext cx="12054468" cy="3539430"/>
          </a:xfrm>
          <a:prstGeom prst="rect">
            <a:avLst/>
          </a:prstGeom>
          <a:noFill/>
        </p:spPr>
        <p:txBody>
          <a:bodyPr wrap="square" rtlCol="0">
            <a:spAutoFit/>
          </a:bodyPr>
          <a:lstStyle/>
          <a:p>
            <a:r>
              <a:rPr lang="en-US" sz="2800" dirty="0"/>
              <a:t>From 2016 – 2024 (excluding 2020) in patients with “high-risk” (Trisomy 13/18, Trauma, Oncologic/Hematopoietic Stem Cell Transplant [HSCT]) diagnoses:</a:t>
            </a:r>
          </a:p>
          <a:p>
            <a:endParaRPr lang="en-US" sz="2800" dirty="0"/>
          </a:p>
          <a:p>
            <a:r>
              <a:rPr lang="en-US" sz="2800" dirty="0"/>
              <a:t>1. have there been changes in rates of ECMO utilization?</a:t>
            </a:r>
          </a:p>
          <a:p>
            <a:r>
              <a:rPr lang="en-US" sz="2800" dirty="0"/>
              <a:t>2. are there patient and/or hospital level factors that are associated with differences in ECMO utilization?</a:t>
            </a:r>
          </a:p>
          <a:p>
            <a:endParaRPr lang="en-US" sz="2800" dirty="0"/>
          </a:p>
          <a:p>
            <a:endParaRPr lang="en-US" sz="2800" dirty="0"/>
          </a:p>
        </p:txBody>
      </p:sp>
    </p:spTree>
    <p:extLst>
      <p:ext uri="{BB962C8B-B14F-4D97-AF65-F5344CB8AC3E}">
        <p14:creationId xmlns:p14="http://schemas.microsoft.com/office/powerpoint/2010/main" val="1770749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4AACFD08-C736-22C4-6D84-17FE8C67A9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2982" y="-7908"/>
            <a:ext cx="7686036" cy="608366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935B5396-467B-DA7C-C79D-6387BAF660E2}"/>
              </a:ext>
            </a:extLst>
          </p:cNvPr>
          <p:cNvSpPr>
            <a:spLocks noChangeArrowheads="1"/>
          </p:cNvSpPr>
          <p:nvPr/>
        </p:nvSpPr>
        <p:spPr bwMode="auto">
          <a:xfrm>
            <a:off x="2118985" y="2403043"/>
            <a:ext cx="9362191" cy="204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6" name="Rectangle 2">
            <a:extLst>
              <a:ext uri="{FF2B5EF4-FFF2-40B4-BE49-F238E27FC236}">
                <a16:creationId xmlns:a16="http://schemas.microsoft.com/office/drawing/2014/main" id="{0405435B-9230-7612-9F93-7791BAF57BE6}"/>
              </a:ext>
            </a:extLst>
          </p:cNvPr>
          <p:cNvSpPr>
            <a:spLocks noChangeArrowheads="1"/>
          </p:cNvSpPr>
          <p:nvPr/>
        </p:nvSpPr>
        <p:spPr bwMode="auto">
          <a:xfrm>
            <a:off x="838200" y="15351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27A5613E-B30F-E19B-F40A-652FC8953907}"/>
              </a:ext>
            </a:extLst>
          </p:cNvPr>
          <p:cNvGraphicFramePr>
            <a:graphicFrameLocks noGrp="1"/>
          </p:cNvGraphicFramePr>
          <p:nvPr>
            <p:extLst>
              <p:ext uri="{D42A27DB-BD31-4B8C-83A1-F6EECF244321}">
                <p14:modId xmlns:p14="http://schemas.microsoft.com/office/powerpoint/2010/main" val="3517563198"/>
              </p:ext>
            </p:extLst>
          </p:nvPr>
        </p:nvGraphicFramePr>
        <p:xfrm>
          <a:off x="838200" y="3110828"/>
          <a:ext cx="10515600" cy="747903"/>
        </p:xfrm>
        <a:graphic>
          <a:graphicData uri="http://schemas.openxmlformats.org/drawingml/2006/table">
            <a:tbl>
              <a:tblPr firstRow="1" firstCol="1" bandRow="1"/>
              <a:tblGrid>
                <a:gridCol w="3505200">
                  <a:extLst>
                    <a:ext uri="{9D8B030D-6E8A-4147-A177-3AD203B41FA5}">
                      <a16:colId xmlns:a16="http://schemas.microsoft.com/office/drawing/2014/main" val="3730700484"/>
                    </a:ext>
                  </a:extLst>
                </a:gridCol>
                <a:gridCol w="3505200">
                  <a:extLst>
                    <a:ext uri="{9D8B030D-6E8A-4147-A177-3AD203B41FA5}">
                      <a16:colId xmlns:a16="http://schemas.microsoft.com/office/drawing/2014/main" val="1340830293"/>
                    </a:ext>
                  </a:extLst>
                </a:gridCol>
                <a:gridCol w="3505200">
                  <a:extLst>
                    <a:ext uri="{9D8B030D-6E8A-4147-A177-3AD203B41FA5}">
                      <a16:colId xmlns:a16="http://schemas.microsoft.com/office/drawing/2014/main" val="825102956"/>
                    </a:ext>
                  </a:extLst>
                </a:gridCol>
              </a:tblGrid>
              <a:tr h="0">
                <a:tc>
                  <a:txBody>
                    <a:bodyPr/>
                    <a:lstStyle/>
                    <a:p>
                      <a:pPr marL="0" marR="0">
                        <a:lnSpc>
                          <a:spcPct val="107000"/>
                        </a:lnSpc>
                        <a:spcAft>
                          <a:spcPts val="800"/>
                        </a:spcAft>
                        <a:buNone/>
                      </a:pPr>
                      <a:r>
                        <a:rPr lang="en-US" sz="1600" kern="100" dirty="0">
                          <a:effectLst/>
                          <a:latin typeface="+mj-lt"/>
                          <a:ea typeface="Aptos" panose="020B0004020202020204" pitchFamily="34" charset="0"/>
                        </a:rPr>
                        <a:t>Category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n = 48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Median (IQR)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8411043"/>
                  </a:ext>
                </a:extLst>
              </a:tr>
              <a:tr h="0">
                <a:tc>
                  <a:txBody>
                    <a:bodyPr/>
                    <a:lstStyle/>
                    <a:p>
                      <a:pPr marL="0" marR="0">
                        <a:lnSpc>
                          <a:spcPct val="107000"/>
                        </a:lnSpc>
                        <a:spcAft>
                          <a:spcPts val="800"/>
                        </a:spcAft>
                        <a:buNone/>
                      </a:pPr>
                      <a:r>
                        <a:rPr lang="en-US" sz="1600" kern="100">
                          <a:effectLst/>
                          <a:latin typeface="+mj-lt"/>
                          <a:ea typeface="Aptos" panose="020B0004020202020204" pitchFamily="34" charset="0"/>
                        </a:rPr>
                        <a:t>Center Total Admissions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a:effectLst/>
                          <a:latin typeface="+mj-lt"/>
                          <a:ea typeface="Aptos" panose="020B0004020202020204" pitchFamily="34" charset="0"/>
                        </a:rPr>
                        <a:t>48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600" dirty="0">
                          <a:latin typeface="+mj-lt"/>
                        </a:rPr>
                        <a:t>22,121 (15,439 , 29,756)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7091737"/>
                  </a:ext>
                </a:extLst>
              </a:tr>
              <a:tr h="0">
                <a:tc>
                  <a:txBody>
                    <a:bodyPr/>
                    <a:lstStyle/>
                    <a:p>
                      <a:pPr marL="0" marR="0">
                        <a:lnSpc>
                          <a:spcPct val="107000"/>
                        </a:lnSpc>
                        <a:spcAft>
                          <a:spcPts val="800"/>
                        </a:spcAft>
                        <a:buNone/>
                      </a:pPr>
                      <a:r>
                        <a:rPr lang="en-US" sz="1600" kern="100" dirty="0">
                          <a:effectLst/>
                          <a:latin typeface="+mj-lt"/>
                          <a:ea typeface="Aptos" panose="020B0004020202020204" pitchFamily="34" charset="0"/>
                        </a:rPr>
                        <a:t>Center Total ECMO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a:effectLst/>
                          <a:latin typeface="+mj-lt"/>
                          <a:ea typeface="Aptos" panose="020B0004020202020204" pitchFamily="34" charset="0"/>
                        </a:rPr>
                        <a:t>48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600" dirty="0">
                          <a:latin typeface="+mj-lt"/>
                        </a:rPr>
                        <a:t>250 (150 , 390)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4371174"/>
                  </a:ext>
                </a:extLst>
              </a:tr>
            </a:tbl>
          </a:graphicData>
        </a:graphic>
      </p:graphicFrame>
      <p:graphicFrame>
        <p:nvGraphicFramePr>
          <p:cNvPr id="7" name="Table 6">
            <a:extLst>
              <a:ext uri="{FF2B5EF4-FFF2-40B4-BE49-F238E27FC236}">
                <a16:creationId xmlns:a16="http://schemas.microsoft.com/office/drawing/2014/main" id="{76232987-C7E3-36FF-7E7E-3D8D13F8F74C}"/>
              </a:ext>
            </a:extLst>
          </p:cNvPr>
          <p:cNvGraphicFramePr>
            <a:graphicFrameLocks noGrp="1"/>
          </p:cNvGraphicFramePr>
          <p:nvPr>
            <p:extLst>
              <p:ext uri="{D42A27DB-BD31-4B8C-83A1-F6EECF244321}">
                <p14:modId xmlns:p14="http://schemas.microsoft.com/office/powerpoint/2010/main" val="747533323"/>
              </p:ext>
            </p:extLst>
          </p:nvPr>
        </p:nvGraphicFramePr>
        <p:xfrm>
          <a:off x="1882838" y="823913"/>
          <a:ext cx="8426324" cy="5321734"/>
        </p:xfrm>
        <a:graphic>
          <a:graphicData uri="http://schemas.openxmlformats.org/drawingml/2006/table">
            <a:tbl>
              <a:tblPr firstRow="1" firstCol="1" bandRow="1"/>
              <a:tblGrid>
                <a:gridCol w="1685265">
                  <a:extLst>
                    <a:ext uri="{9D8B030D-6E8A-4147-A177-3AD203B41FA5}">
                      <a16:colId xmlns:a16="http://schemas.microsoft.com/office/drawing/2014/main" val="1046565061"/>
                    </a:ext>
                  </a:extLst>
                </a:gridCol>
                <a:gridCol w="1685265">
                  <a:extLst>
                    <a:ext uri="{9D8B030D-6E8A-4147-A177-3AD203B41FA5}">
                      <a16:colId xmlns:a16="http://schemas.microsoft.com/office/drawing/2014/main" val="1850899499"/>
                    </a:ext>
                  </a:extLst>
                </a:gridCol>
                <a:gridCol w="1685265">
                  <a:extLst>
                    <a:ext uri="{9D8B030D-6E8A-4147-A177-3AD203B41FA5}">
                      <a16:colId xmlns:a16="http://schemas.microsoft.com/office/drawing/2014/main" val="2035531108"/>
                    </a:ext>
                  </a:extLst>
                </a:gridCol>
                <a:gridCol w="2333648">
                  <a:extLst>
                    <a:ext uri="{9D8B030D-6E8A-4147-A177-3AD203B41FA5}">
                      <a16:colId xmlns:a16="http://schemas.microsoft.com/office/drawing/2014/main" val="2242254179"/>
                    </a:ext>
                  </a:extLst>
                </a:gridCol>
                <a:gridCol w="1036881">
                  <a:extLst>
                    <a:ext uri="{9D8B030D-6E8A-4147-A177-3AD203B41FA5}">
                      <a16:colId xmlns:a16="http://schemas.microsoft.com/office/drawing/2014/main" val="1927690823"/>
                    </a:ext>
                  </a:extLst>
                </a:gridCol>
              </a:tblGrid>
              <a:tr h="844354">
                <a:tc>
                  <a:txBody>
                    <a:bodyPr/>
                    <a:lstStyle/>
                    <a:p>
                      <a:pPr marL="0" marR="0">
                        <a:lnSpc>
                          <a:spcPct val="107000"/>
                        </a:lnSpc>
                        <a:spcAft>
                          <a:spcPts val="800"/>
                        </a:spcAft>
                        <a:buNone/>
                      </a:pPr>
                      <a:r>
                        <a:rPr lang="en-US" sz="1600" kern="100" dirty="0">
                          <a:effectLst/>
                          <a:latin typeface="+mj-lt"/>
                          <a:ea typeface="Aptos" panose="020B0004020202020204" pitchFamily="34" charset="0"/>
                        </a:rPr>
                        <a:t>Category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n =</a:t>
                      </a:r>
                    </a:p>
                    <a:p>
                      <a:pPr marL="0" marR="0" algn="ctr">
                        <a:lnSpc>
                          <a:spcPct val="107000"/>
                        </a:lnSpc>
                        <a:spcAft>
                          <a:spcPts val="800"/>
                        </a:spcAft>
                        <a:buNone/>
                      </a:pPr>
                      <a:r>
                        <a:rPr lang="en-US" sz="1600" kern="100" dirty="0">
                          <a:effectLst/>
                          <a:latin typeface="+mj-lt"/>
                          <a:ea typeface="Aptos" panose="020B0004020202020204" pitchFamily="34" charset="0"/>
                        </a:rPr>
                        <a:t>874,300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ECMO </a:t>
                      </a:r>
                    </a:p>
                    <a:p>
                      <a:pPr marL="0" marR="0" algn="ctr">
                        <a:lnSpc>
                          <a:spcPct val="107000"/>
                        </a:lnSpc>
                        <a:spcAft>
                          <a:spcPts val="800"/>
                        </a:spcAft>
                        <a:buNone/>
                      </a:pPr>
                      <a:r>
                        <a:rPr lang="en-US" sz="1600" kern="100" dirty="0">
                          <a:effectLst/>
                          <a:latin typeface="+mj-lt"/>
                          <a:ea typeface="Aptos" panose="020B0004020202020204" pitchFamily="34" charset="0"/>
                        </a:rPr>
                        <a:t>n =9,696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No-ECMO </a:t>
                      </a:r>
                    </a:p>
                    <a:p>
                      <a:pPr marL="0" marR="0" algn="ctr">
                        <a:lnSpc>
                          <a:spcPct val="107000"/>
                        </a:lnSpc>
                        <a:spcAft>
                          <a:spcPts val="800"/>
                        </a:spcAft>
                        <a:buNone/>
                      </a:pPr>
                      <a:r>
                        <a:rPr lang="en-US" sz="1600" kern="100" dirty="0">
                          <a:effectLst/>
                          <a:latin typeface="+mj-lt"/>
                          <a:ea typeface="Aptos" panose="020B0004020202020204" pitchFamily="34" charset="0"/>
                        </a:rPr>
                        <a:t>n = 864,604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p-value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6693816"/>
                  </a:ext>
                </a:extLst>
              </a:tr>
              <a:tr h="620220">
                <a:tc>
                  <a:txBody>
                    <a:bodyPr/>
                    <a:lstStyle/>
                    <a:p>
                      <a:pPr marL="0" marR="0">
                        <a:lnSpc>
                          <a:spcPct val="107000"/>
                        </a:lnSpc>
                        <a:spcAft>
                          <a:spcPts val="800"/>
                        </a:spcAft>
                        <a:buNone/>
                      </a:pPr>
                      <a:r>
                        <a:rPr lang="en-US" sz="1600" kern="100" dirty="0">
                          <a:effectLst/>
                          <a:latin typeface="+mj-lt"/>
                          <a:ea typeface="Aptos" panose="020B0004020202020204" pitchFamily="34" charset="0"/>
                        </a:rPr>
                        <a:t>Age (years), mean [SD]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874,300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4.8 [7.7]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7.1 [7.3]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&lt; 0.001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8800510"/>
                  </a:ext>
                </a:extLst>
              </a:tr>
              <a:tr h="334681">
                <a:tc>
                  <a:txBody>
                    <a:bodyPr/>
                    <a:lstStyle/>
                    <a:p>
                      <a:pPr marL="0" marR="0">
                        <a:lnSpc>
                          <a:spcPct val="107000"/>
                        </a:lnSpc>
                        <a:spcAft>
                          <a:spcPts val="800"/>
                        </a:spcAft>
                        <a:buNone/>
                      </a:pPr>
                      <a:r>
                        <a:rPr lang="en-US" sz="1600" kern="100" dirty="0">
                          <a:effectLst/>
                          <a:latin typeface="+mj-lt"/>
                          <a:ea typeface="Aptos" panose="020B0004020202020204" pitchFamily="34" charset="0"/>
                        </a:rPr>
                        <a:t>Ethnicity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874,300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a:effectLst/>
                          <a:latin typeface="+mj-lt"/>
                          <a:ea typeface="Aptos" panose="020B00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kern="100" dirty="0">
                          <a:effectLst/>
                          <a:latin typeface="+mj-lt"/>
                          <a:ea typeface="Aptos" panose="020B00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&lt; 0.001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757617850"/>
                  </a:ext>
                </a:extLst>
              </a:tr>
              <a:tr h="344052">
                <a:tc>
                  <a:txBody>
                    <a:bodyPr/>
                    <a:lstStyle/>
                    <a:p>
                      <a:pPr marL="0" marR="0" algn="r">
                        <a:lnSpc>
                          <a:spcPct val="107000"/>
                        </a:lnSpc>
                        <a:spcAft>
                          <a:spcPts val="800"/>
                        </a:spcAft>
                        <a:buNone/>
                      </a:pPr>
                      <a:r>
                        <a:rPr lang="en-US" sz="1600" kern="100" dirty="0">
                          <a:effectLst/>
                          <a:latin typeface="+mj-lt"/>
                          <a:ea typeface="Aptos" panose="020B0004020202020204" pitchFamily="34" charset="0"/>
                        </a:rPr>
                        <a:t>Hispanic/Latino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188,349 (21.5)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1,828  (20.9)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186,521 (21.3)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Aft>
                          <a:spcPts val="800"/>
                        </a:spcAft>
                        <a:buNone/>
                      </a:pPr>
                      <a:endParaRPr lang="en-US" sz="1600" kern="100" dirty="0">
                        <a:effectLst/>
                        <a:latin typeface="+mj-lt"/>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3753549090"/>
                  </a:ext>
                </a:extLst>
              </a:tr>
              <a:tr h="426163">
                <a:tc>
                  <a:txBody>
                    <a:bodyPr/>
                    <a:lstStyle/>
                    <a:p>
                      <a:pPr marL="0" marR="0" algn="r">
                        <a:lnSpc>
                          <a:spcPct val="107000"/>
                        </a:lnSpc>
                        <a:spcAft>
                          <a:spcPts val="800"/>
                        </a:spcAft>
                        <a:buNone/>
                      </a:pPr>
                      <a:r>
                        <a:rPr lang="en-US" sz="1600" kern="100" dirty="0">
                          <a:effectLst/>
                          <a:latin typeface="+mj-lt"/>
                          <a:ea typeface="Aptos" panose="020B0004020202020204" pitchFamily="34" charset="0"/>
                        </a:rPr>
                        <a:t>Non-Hispanic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641,896 (73.4)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7,077 (80.9)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634,819 (72.6)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kern="100" dirty="0">
                          <a:effectLst/>
                          <a:latin typeface="+mj-lt"/>
                          <a:ea typeface="Aptos" panose="020B00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3150775894"/>
                  </a:ext>
                </a:extLst>
              </a:tr>
              <a:tr h="426163">
                <a:tc>
                  <a:txBody>
                    <a:bodyPr/>
                    <a:lstStyle/>
                    <a:p>
                      <a:pPr marL="0" marR="0" algn="r">
                        <a:lnSpc>
                          <a:spcPct val="107000"/>
                        </a:lnSpc>
                        <a:spcAft>
                          <a:spcPts val="800"/>
                        </a:spcAft>
                        <a:buNone/>
                      </a:pPr>
                      <a:r>
                        <a:rPr lang="en-US" sz="1600" dirty="0">
                          <a:latin typeface="+mj-lt"/>
                        </a:rPr>
                        <a:t>Missing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44,055 (5.0)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791 (&lt;0.1)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43,264 (4.9)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endParaRPr lang="en-US" sz="1600" kern="100" dirty="0">
                        <a:effectLst/>
                        <a:latin typeface="+mj-lt"/>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7191344"/>
                  </a:ext>
                </a:extLst>
              </a:tr>
              <a:tr h="605841">
                <a:tc>
                  <a:txBody>
                    <a:bodyPr/>
                    <a:lstStyle/>
                    <a:p>
                      <a:pPr marL="0" marR="0">
                        <a:lnSpc>
                          <a:spcPct val="107000"/>
                        </a:lnSpc>
                        <a:spcAft>
                          <a:spcPts val="800"/>
                        </a:spcAft>
                        <a:buNone/>
                      </a:pPr>
                      <a:r>
                        <a:rPr lang="en-US" sz="1600" kern="100" dirty="0">
                          <a:effectLst/>
                          <a:latin typeface="+mj-lt"/>
                          <a:ea typeface="Aptos" panose="020B0004020202020204" pitchFamily="34" charset="0"/>
                        </a:rPr>
                        <a:t>High Risk Group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 874,300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kern="100" dirty="0">
                          <a:effectLst/>
                          <a:latin typeface="+mj-lt"/>
                          <a:ea typeface="Aptos" panose="020B00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&lt; 0.001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652310633"/>
                  </a:ext>
                </a:extLst>
              </a:tr>
              <a:tr h="344052">
                <a:tc>
                  <a:txBody>
                    <a:bodyPr/>
                    <a:lstStyle/>
                    <a:p>
                      <a:pPr marL="0" marR="0" algn="r">
                        <a:lnSpc>
                          <a:spcPct val="107000"/>
                        </a:lnSpc>
                        <a:spcAft>
                          <a:spcPts val="800"/>
                        </a:spcAft>
                        <a:buNone/>
                      </a:pPr>
                      <a:r>
                        <a:rPr lang="en-US" sz="1600" kern="100" dirty="0">
                          <a:effectLst/>
                          <a:latin typeface="+mj-lt"/>
                          <a:ea typeface="Aptos" panose="020B0004020202020204" pitchFamily="34" charset="0"/>
                        </a:rPr>
                        <a:t>Not High-Risk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776,860 (88.9)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8,304 (85.6)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768,556 (88.9)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kern="100" dirty="0">
                          <a:effectLst/>
                          <a:latin typeface="+mj-lt"/>
                          <a:ea typeface="Aptos" panose="020B00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775821617"/>
                  </a:ext>
                </a:extLst>
              </a:tr>
              <a:tr h="344052">
                <a:tc>
                  <a:txBody>
                    <a:bodyPr/>
                    <a:lstStyle/>
                    <a:p>
                      <a:pPr marL="0" marR="0" algn="r">
                        <a:lnSpc>
                          <a:spcPct val="107000"/>
                        </a:lnSpc>
                        <a:spcAft>
                          <a:spcPts val="800"/>
                        </a:spcAft>
                        <a:buNone/>
                      </a:pPr>
                      <a:r>
                        <a:rPr lang="en-US" sz="1600" kern="100" dirty="0">
                          <a:effectLst/>
                          <a:latin typeface="+mj-lt"/>
                          <a:ea typeface="Aptos" panose="020B0004020202020204" pitchFamily="34" charset="0"/>
                        </a:rPr>
                        <a:t>Trisomy 13/18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3,310 (0.4)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16 (0.2)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3,294 (0.4)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kern="100" dirty="0">
                          <a:effectLst/>
                          <a:latin typeface="+mj-lt"/>
                          <a:ea typeface="Aptos" panose="020B00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243452173"/>
                  </a:ext>
                </a:extLst>
              </a:tr>
              <a:tr h="344052">
                <a:tc>
                  <a:txBody>
                    <a:bodyPr/>
                    <a:lstStyle/>
                    <a:p>
                      <a:pPr marL="0" marR="0" algn="r">
                        <a:lnSpc>
                          <a:spcPct val="107000"/>
                        </a:lnSpc>
                        <a:spcAft>
                          <a:spcPts val="800"/>
                        </a:spcAft>
                        <a:buNone/>
                      </a:pPr>
                      <a:r>
                        <a:rPr lang="en-US" sz="1600" kern="100" dirty="0">
                          <a:effectLst/>
                          <a:latin typeface="+mj-lt"/>
                          <a:ea typeface="Aptos" panose="020B0004020202020204" pitchFamily="34" charset="0"/>
                        </a:rPr>
                        <a:t>Trauma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62,612 (7.1)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1,270 (13.1)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61,342 (7.1)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kern="100" dirty="0">
                          <a:effectLst/>
                          <a:latin typeface="+mj-lt"/>
                          <a:ea typeface="Aptos" panose="020B00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641807602"/>
                  </a:ext>
                </a:extLst>
              </a:tr>
              <a:tr h="344052">
                <a:tc>
                  <a:txBody>
                    <a:bodyPr/>
                    <a:lstStyle/>
                    <a:p>
                      <a:pPr marL="0" marR="0" algn="r">
                        <a:lnSpc>
                          <a:spcPct val="107000"/>
                        </a:lnSpc>
                        <a:spcAft>
                          <a:spcPts val="800"/>
                        </a:spcAft>
                        <a:buNone/>
                      </a:pPr>
                      <a:r>
                        <a:rPr lang="en-US" sz="1600" kern="100" dirty="0">
                          <a:effectLst/>
                          <a:latin typeface="+mj-lt"/>
                          <a:ea typeface="Aptos" panose="020B0004020202020204" pitchFamily="34" charset="0"/>
                        </a:rPr>
                        <a:t>Oncologic/BMT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31,518 (3.6)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106 (1.1)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31,412 (3.6)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kern="100">
                          <a:effectLst/>
                          <a:latin typeface="+mj-lt"/>
                          <a:ea typeface="Aptos" panose="020B00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020492"/>
                  </a:ext>
                </a:extLst>
              </a:tr>
              <a:tr h="344052">
                <a:tc>
                  <a:txBody>
                    <a:bodyPr/>
                    <a:lstStyle/>
                    <a:p>
                      <a:pPr marL="0" marR="0">
                        <a:lnSpc>
                          <a:spcPct val="107000"/>
                        </a:lnSpc>
                        <a:spcAft>
                          <a:spcPts val="800"/>
                        </a:spcAft>
                        <a:buNone/>
                      </a:pPr>
                      <a:r>
                        <a:rPr lang="en-US" sz="1600" kern="100" dirty="0">
                          <a:effectLst/>
                          <a:latin typeface="+mj-lt"/>
                          <a:ea typeface="Aptos" panose="020B0004020202020204" pitchFamily="34" charset="0"/>
                        </a:rPr>
                        <a:t>Mortality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874,300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22,979 (38.8)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600" kern="100" dirty="0">
                          <a:effectLst/>
                          <a:latin typeface="+mj-lt"/>
                          <a:ea typeface="Aptos" panose="020B0004020202020204" pitchFamily="34" charset="0"/>
                        </a:rPr>
                        <a:t>851,321 (2.2)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&lt; 0.001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7074490"/>
                  </a:ext>
                </a:extLst>
              </a:tr>
            </a:tbl>
          </a:graphicData>
        </a:graphic>
      </p:graphicFrame>
      <p:pic>
        <p:nvPicPr>
          <p:cNvPr id="2049" name="Picture 1">
            <a:extLst>
              <a:ext uri="{FF2B5EF4-FFF2-40B4-BE49-F238E27FC236}">
                <a16:creationId xmlns:a16="http://schemas.microsoft.com/office/drawing/2014/main" id="{0F264E24-431B-C998-3263-7C27E15881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8922" y="242453"/>
            <a:ext cx="4534155" cy="5951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1684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20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54F74-3125-A1D4-DE23-E5BF1C0494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4BA2C-E683-644A-4687-75CC7B1F3BF1}"/>
              </a:ext>
            </a:extLst>
          </p:cNvPr>
          <p:cNvSpPr>
            <a:spLocks noGrp="1"/>
          </p:cNvSpPr>
          <p:nvPr>
            <p:ph type="title"/>
          </p:nvPr>
        </p:nvSpPr>
        <p:spPr>
          <a:xfrm>
            <a:off x="0" y="18255"/>
            <a:ext cx="10515600" cy="1325563"/>
          </a:xfrm>
        </p:spPr>
        <p:txBody>
          <a:bodyPr/>
          <a:lstStyle/>
          <a:p>
            <a:r>
              <a:rPr lang="en-US" dirty="0"/>
              <a:t>What are the trends in ECMO utilization?</a:t>
            </a:r>
          </a:p>
        </p:txBody>
      </p:sp>
      <p:sp>
        <p:nvSpPr>
          <p:cNvPr id="3" name="TextBox 2">
            <a:extLst>
              <a:ext uri="{FF2B5EF4-FFF2-40B4-BE49-F238E27FC236}">
                <a16:creationId xmlns:a16="http://schemas.microsoft.com/office/drawing/2014/main" id="{E7F0160E-3FC8-2152-A6AF-9D7A1A13F2A7}"/>
              </a:ext>
            </a:extLst>
          </p:cNvPr>
          <p:cNvSpPr txBox="1"/>
          <p:nvPr/>
        </p:nvSpPr>
        <p:spPr>
          <a:xfrm>
            <a:off x="10365424" y="6488668"/>
            <a:ext cx="2238211" cy="369332"/>
          </a:xfrm>
          <a:prstGeom prst="rect">
            <a:avLst/>
          </a:prstGeom>
          <a:noFill/>
        </p:spPr>
        <p:txBody>
          <a:bodyPr wrap="square">
            <a:spAutoFit/>
          </a:bodyPr>
          <a:lstStyle/>
          <a:p>
            <a:r>
              <a:rPr lang="en-US" b="1" dirty="0">
                <a:solidFill>
                  <a:srgbClr val="FF0000"/>
                </a:solidFill>
              </a:rPr>
              <a:t>Unpublished Data</a:t>
            </a:r>
          </a:p>
        </p:txBody>
      </p:sp>
      <p:sp>
        <p:nvSpPr>
          <p:cNvPr id="10" name="Rectangle 2">
            <a:extLst>
              <a:ext uri="{FF2B5EF4-FFF2-40B4-BE49-F238E27FC236}">
                <a16:creationId xmlns:a16="http://schemas.microsoft.com/office/drawing/2014/main" id="{7A22367B-232D-7F57-0283-DFE771DEC41E}"/>
              </a:ext>
            </a:extLst>
          </p:cNvPr>
          <p:cNvSpPr>
            <a:spLocks noChangeArrowheads="1"/>
          </p:cNvSpPr>
          <p:nvPr/>
        </p:nvSpPr>
        <p:spPr bwMode="auto">
          <a:xfrm>
            <a:off x="7398785" y="16224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 name="Table 15">
            <a:extLst>
              <a:ext uri="{FF2B5EF4-FFF2-40B4-BE49-F238E27FC236}">
                <a16:creationId xmlns:a16="http://schemas.microsoft.com/office/drawing/2014/main" id="{2D8255FE-4D59-B761-5169-EDE8FE3E476B}"/>
              </a:ext>
            </a:extLst>
          </p:cNvPr>
          <p:cNvGraphicFramePr>
            <a:graphicFrameLocks noGrp="1"/>
          </p:cNvGraphicFramePr>
          <p:nvPr>
            <p:extLst>
              <p:ext uri="{D42A27DB-BD31-4B8C-83A1-F6EECF244321}">
                <p14:modId xmlns:p14="http://schemas.microsoft.com/office/powerpoint/2010/main" val="314617415"/>
              </p:ext>
            </p:extLst>
          </p:nvPr>
        </p:nvGraphicFramePr>
        <p:xfrm>
          <a:off x="7384056" y="2775295"/>
          <a:ext cx="4733924" cy="1760348"/>
        </p:xfrm>
        <a:graphic>
          <a:graphicData uri="http://schemas.openxmlformats.org/drawingml/2006/table">
            <a:tbl>
              <a:tblPr firstRow="1" firstCol="1" bandRow="1"/>
              <a:tblGrid>
                <a:gridCol w="1811890">
                  <a:extLst>
                    <a:ext uri="{9D8B030D-6E8A-4147-A177-3AD203B41FA5}">
                      <a16:colId xmlns:a16="http://schemas.microsoft.com/office/drawing/2014/main" val="3282867858"/>
                    </a:ext>
                  </a:extLst>
                </a:gridCol>
                <a:gridCol w="2162175">
                  <a:extLst>
                    <a:ext uri="{9D8B030D-6E8A-4147-A177-3AD203B41FA5}">
                      <a16:colId xmlns:a16="http://schemas.microsoft.com/office/drawing/2014/main" val="1597823037"/>
                    </a:ext>
                  </a:extLst>
                </a:gridCol>
                <a:gridCol w="759859">
                  <a:extLst>
                    <a:ext uri="{9D8B030D-6E8A-4147-A177-3AD203B41FA5}">
                      <a16:colId xmlns:a16="http://schemas.microsoft.com/office/drawing/2014/main" val="1649872174"/>
                    </a:ext>
                  </a:extLst>
                </a:gridCol>
              </a:tblGrid>
              <a:tr h="217395">
                <a:tc gridSpan="3">
                  <a:txBody>
                    <a:bodyPr/>
                    <a:lstStyle/>
                    <a:p>
                      <a:pPr marL="0" marR="0" algn="ctr">
                        <a:lnSpc>
                          <a:spcPct val="107000"/>
                        </a:lnSpc>
                        <a:spcAft>
                          <a:spcPts val="800"/>
                        </a:spcAft>
                        <a:buNone/>
                      </a:pPr>
                      <a:r>
                        <a:rPr lang="en-US" sz="1600" b="1" kern="100" dirty="0">
                          <a:effectLst/>
                          <a:latin typeface="+mj-lt"/>
                          <a:ea typeface="Aptos" panose="020B0004020202020204" pitchFamily="34" charset="0"/>
                        </a:rPr>
                        <a:t>ECMO Cases by Year Adjusted for Admissions</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223663614"/>
                  </a:ext>
                </a:extLst>
              </a:tr>
              <a:tr h="217395">
                <a:tc>
                  <a:txBody>
                    <a:bodyPr/>
                    <a:lstStyle/>
                    <a:p>
                      <a:pPr marL="0" marR="0">
                        <a:lnSpc>
                          <a:spcPct val="107000"/>
                        </a:lnSpc>
                        <a:spcAft>
                          <a:spcPts val="800"/>
                        </a:spcAft>
                        <a:buNone/>
                      </a:pPr>
                      <a:r>
                        <a:rPr lang="en-US" sz="1600" kern="100">
                          <a:effectLst/>
                          <a:latin typeface="+mj-lt"/>
                          <a:ea typeface="Aptos" panose="020B0004020202020204" pitchFamily="34" charset="0"/>
                        </a:rPr>
                        <a:t> </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b="0" kern="100" dirty="0">
                          <a:effectLst/>
                          <a:latin typeface="+mj-lt"/>
                          <a:ea typeface="Aptos" panose="020B0004020202020204" pitchFamily="34" charset="0"/>
                        </a:rPr>
                        <a:t>Coefficient (95% CI)</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r" defTabSz="914400" rtl="0" eaLnBrk="1" fontAlgn="auto" latinLnBrk="0" hangingPunct="1">
                        <a:lnSpc>
                          <a:spcPct val="107000"/>
                        </a:lnSpc>
                        <a:spcBef>
                          <a:spcPts val="0"/>
                        </a:spcBef>
                        <a:spcAft>
                          <a:spcPts val="800"/>
                        </a:spcAft>
                        <a:buClrTx/>
                        <a:buSzTx/>
                        <a:buFontTx/>
                        <a:buNone/>
                        <a:tabLst/>
                        <a:defRPr/>
                      </a:pPr>
                      <a:r>
                        <a:rPr lang="en-US" sz="1600" b="0" kern="100" dirty="0">
                          <a:solidFill>
                            <a:schemeClr val="tx1"/>
                          </a:solidFill>
                          <a:effectLst/>
                          <a:latin typeface="+mj-lt"/>
                          <a:ea typeface="Aptos" panose="020B0004020202020204" pitchFamily="34" charset="0"/>
                          <a:cs typeface="+mn-cs"/>
                        </a:rPr>
                        <a:t>p-value</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5442269"/>
                  </a:ext>
                </a:extLst>
              </a:tr>
              <a:tr h="232800">
                <a:tc>
                  <a:txBody>
                    <a:bodyPr/>
                    <a:lstStyle/>
                    <a:p>
                      <a:pPr marL="0" marR="0">
                        <a:lnSpc>
                          <a:spcPct val="107000"/>
                        </a:lnSpc>
                        <a:spcAft>
                          <a:spcPts val="800"/>
                        </a:spcAft>
                        <a:buNone/>
                      </a:pPr>
                      <a:r>
                        <a:rPr lang="en-US" sz="1600" kern="100" dirty="0">
                          <a:effectLst/>
                          <a:latin typeface="+mj-lt"/>
                          <a:ea typeface="Aptos" panose="020B0004020202020204" pitchFamily="34" charset="0"/>
                        </a:rPr>
                        <a:t>Year of Service</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b="0" kern="100" dirty="0">
                          <a:effectLst/>
                          <a:latin typeface="+mj-lt"/>
                          <a:ea typeface="Aptos" panose="020B0004020202020204" pitchFamily="34" charset="0"/>
                        </a:rPr>
                        <a:t>-15.6 (-60.6</a:t>
                      </a:r>
                      <a:r>
                        <a:rPr lang="en-US" sz="1600" b="0" kern="100" dirty="0">
                          <a:solidFill>
                            <a:schemeClr val="tx1"/>
                          </a:solidFill>
                          <a:effectLst/>
                          <a:latin typeface="+mj-lt"/>
                          <a:ea typeface="Aptos" panose="020B0004020202020204" pitchFamily="34" charset="0"/>
                          <a:cs typeface="+mn-cs"/>
                        </a:rPr>
                        <a:t> – 29.4</a:t>
                      </a:r>
                      <a:r>
                        <a:rPr lang="en-US" sz="1600" b="0" kern="100" dirty="0">
                          <a:effectLst/>
                          <a:latin typeface="+mj-lt"/>
                          <a:ea typeface="Aptos" panose="020B0004020202020204" pitchFamily="34" charset="0"/>
                        </a:rPr>
                        <a:t>)</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r" defTabSz="914400" rtl="0" eaLnBrk="1" fontAlgn="auto" latinLnBrk="0" hangingPunct="1">
                        <a:lnSpc>
                          <a:spcPct val="107000"/>
                        </a:lnSpc>
                        <a:spcBef>
                          <a:spcPts val="0"/>
                        </a:spcBef>
                        <a:spcAft>
                          <a:spcPts val="800"/>
                        </a:spcAft>
                        <a:buClrTx/>
                        <a:buSzTx/>
                        <a:buFontTx/>
                        <a:buNone/>
                        <a:tabLst/>
                        <a:defRPr/>
                      </a:pPr>
                      <a:r>
                        <a:rPr lang="en-US" sz="1600" kern="100" dirty="0">
                          <a:solidFill>
                            <a:schemeClr val="tx1"/>
                          </a:solidFill>
                          <a:effectLst/>
                          <a:latin typeface="+mj-lt"/>
                          <a:ea typeface="Aptos" panose="020B0004020202020204" pitchFamily="34" charset="0"/>
                          <a:cs typeface="+mn-cs"/>
                        </a:rPr>
                        <a:t>0.41</a:t>
                      </a:r>
                    </a:p>
                    <a:p>
                      <a:pPr marL="0" marR="0">
                        <a:lnSpc>
                          <a:spcPct val="107000"/>
                        </a:lnSpc>
                        <a:spcAft>
                          <a:spcPts val="800"/>
                        </a:spcAft>
                        <a:buNone/>
                      </a:pPr>
                      <a:endParaRPr lang="en-US" sz="1600" kern="100" dirty="0">
                        <a:effectLst/>
                        <a:latin typeface="+mj-lt"/>
                        <a:ea typeface="Aptos" panose="020B00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1219478"/>
                  </a:ext>
                </a:extLst>
              </a:tr>
              <a:tr h="521887">
                <a:tc>
                  <a:txBody>
                    <a:bodyPr/>
                    <a:lstStyle/>
                    <a:p>
                      <a:pPr marL="0" marR="0">
                        <a:lnSpc>
                          <a:spcPct val="107000"/>
                        </a:lnSpc>
                        <a:spcAft>
                          <a:spcPts val="800"/>
                        </a:spcAft>
                        <a:buNone/>
                      </a:pPr>
                      <a:r>
                        <a:rPr lang="en-US" sz="1600" kern="100" dirty="0">
                          <a:effectLst/>
                          <a:latin typeface="+mj-lt"/>
                          <a:ea typeface="Aptos" panose="020B0004020202020204" pitchFamily="34" charset="0"/>
                        </a:rPr>
                        <a:t>Annual Admissions (per 1,000)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kern="100" dirty="0">
                          <a:effectLst/>
                          <a:latin typeface="+mj-lt"/>
                          <a:ea typeface="Aptos" panose="020B0004020202020204" pitchFamily="34" charset="0"/>
                        </a:rPr>
                        <a:t>28.7 (10.3 – 47.2)</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r" defTabSz="914400" rtl="0" eaLnBrk="1" fontAlgn="auto" latinLnBrk="0" hangingPunct="1">
                        <a:lnSpc>
                          <a:spcPct val="107000"/>
                        </a:lnSpc>
                        <a:spcBef>
                          <a:spcPts val="0"/>
                        </a:spcBef>
                        <a:spcAft>
                          <a:spcPts val="800"/>
                        </a:spcAft>
                        <a:buClrTx/>
                        <a:buSzTx/>
                        <a:buFontTx/>
                        <a:buNone/>
                        <a:tabLst/>
                        <a:defRPr/>
                      </a:pPr>
                      <a:r>
                        <a:rPr lang="en-US" sz="1600" kern="100" dirty="0">
                          <a:solidFill>
                            <a:schemeClr val="tx1"/>
                          </a:solidFill>
                          <a:effectLst/>
                          <a:latin typeface="+mj-lt"/>
                          <a:ea typeface="Aptos" panose="020B0004020202020204" pitchFamily="34" charset="0"/>
                          <a:cs typeface="+mn-cs"/>
                        </a:rPr>
                        <a:t>0.01</a:t>
                      </a:r>
                    </a:p>
                    <a:p>
                      <a:pPr marL="0" marR="0">
                        <a:lnSpc>
                          <a:spcPct val="107000"/>
                        </a:lnSpc>
                        <a:spcAft>
                          <a:spcPts val="800"/>
                        </a:spcAft>
                        <a:buNone/>
                      </a:pPr>
                      <a:endParaRPr lang="en-US" sz="1600" kern="100" dirty="0">
                        <a:effectLst/>
                        <a:latin typeface="+mj-lt"/>
                        <a:ea typeface="Aptos" panose="020B00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9517996"/>
                  </a:ext>
                </a:extLst>
              </a:tr>
            </a:tbl>
          </a:graphicData>
        </a:graphic>
      </p:graphicFrame>
      <p:sp>
        <p:nvSpPr>
          <p:cNvPr id="17" name="Rectangle 2">
            <a:extLst>
              <a:ext uri="{FF2B5EF4-FFF2-40B4-BE49-F238E27FC236}">
                <a16:creationId xmlns:a16="http://schemas.microsoft.com/office/drawing/2014/main" id="{CCFBD13B-6332-0C87-CD16-9DEB69B05E37}"/>
              </a:ext>
            </a:extLst>
          </p:cNvPr>
          <p:cNvSpPr>
            <a:spLocks noChangeArrowheads="1"/>
          </p:cNvSpPr>
          <p:nvPr/>
        </p:nvSpPr>
        <p:spPr bwMode="auto">
          <a:xfrm>
            <a:off x="7384056" y="5034251"/>
            <a:ext cx="1223001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8" name="Picture 7">
            <a:extLst>
              <a:ext uri="{FF2B5EF4-FFF2-40B4-BE49-F238E27FC236}">
                <a16:creationId xmlns:a16="http://schemas.microsoft.com/office/drawing/2014/main" id="{0F5D4421-37B6-0EFE-45C9-1FDE70CFCA7C}"/>
              </a:ext>
            </a:extLst>
          </p:cNvPr>
          <p:cNvPicPr>
            <a:picLocks noChangeAspect="1"/>
          </p:cNvPicPr>
          <p:nvPr/>
        </p:nvPicPr>
        <p:blipFill>
          <a:blip r:embed="rId4"/>
          <a:stretch>
            <a:fillRect/>
          </a:stretch>
        </p:blipFill>
        <p:spPr>
          <a:xfrm>
            <a:off x="0" y="1595021"/>
            <a:ext cx="7299828" cy="4388336"/>
          </a:xfrm>
          <a:prstGeom prst="rect">
            <a:avLst/>
          </a:prstGeom>
        </p:spPr>
      </p:pic>
    </p:spTree>
    <p:extLst>
      <p:ext uri="{BB962C8B-B14F-4D97-AF65-F5344CB8AC3E}">
        <p14:creationId xmlns:p14="http://schemas.microsoft.com/office/powerpoint/2010/main" val="315842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F3402-3DEA-E9EE-9FA1-0596C00AE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193D8-948E-3117-D8DC-0FA634FD84A6}"/>
              </a:ext>
            </a:extLst>
          </p:cNvPr>
          <p:cNvSpPr>
            <a:spLocks noGrp="1"/>
          </p:cNvSpPr>
          <p:nvPr>
            <p:ph type="title"/>
          </p:nvPr>
        </p:nvSpPr>
        <p:spPr>
          <a:xfrm>
            <a:off x="0" y="18255"/>
            <a:ext cx="12192000" cy="1325563"/>
          </a:xfrm>
        </p:spPr>
        <p:txBody>
          <a:bodyPr/>
          <a:lstStyle/>
          <a:p>
            <a:r>
              <a:rPr lang="en-US" dirty="0"/>
              <a:t>Has ECMO receipt changed for trauma patients?</a:t>
            </a:r>
          </a:p>
        </p:txBody>
      </p:sp>
      <p:sp>
        <p:nvSpPr>
          <p:cNvPr id="3" name="TextBox 2">
            <a:extLst>
              <a:ext uri="{FF2B5EF4-FFF2-40B4-BE49-F238E27FC236}">
                <a16:creationId xmlns:a16="http://schemas.microsoft.com/office/drawing/2014/main" id="{BE1B950A-53BB-D963-C846-7F25754C9E9B}"/>
              </a:ext>
            </a:extLst>
          </p:cNvPr>
          <p:cNvSpPr txBox="1"/>
          <p:nvPr/>
        </p:nvSpPr>
        <p:spPr>
          <a:xfrm>
            <a:off x="10365424" y="6488668"/>
            <a:ext cx="2238211" cy="369332"/>
          </a:xfrm>
          <a:prstGeom prst="rect">
            <a:avLst/>
          </a:prstGeom>
          <a:noFill/>
        </p:spPr>
        <p:txBody>
          <a:bodyPr wrap="square">
            <a:spAutoFit/>
          </a:bodyPr>
          <a:lstStyle/>
          <a:p>
            <a:r>
              <a:rPr lang="en-US" b="1" dirty="0">
                <a:solidFill>
                  <a:srgbClr val="FF0000"/>
                </a:solidFill>
              </a:rPr>
              <a:t>Unpublished Data</a:t>
            </a:r>
          </a:p>
        </p:txBody>
      </p:sp>
      <p:sp>
        <p:nvSpPr>
          <p:cNvPr id="13" name="Rectangle 4">
            <a:extLst>
              <a:ext uri="{FF2B5EF4-FFF2-40B4-BE49-F238E27FC236}">
                <a16:creationId xmlns:a16="http://schemas.microsoft.com/office/drawing/2014/main" id="{A2FCA7DD-EBFF-50F6-8220-1C8B39B46CDD}"/>
              </a:ext>
            </a:extLst>
          </p:cNvPr>
          <p:cNvSpPr>
            <a:spLocks noChangeArrowheads="1"/>
          </p:cNvSpPr>
          <p:nvPr/>
        </p:nvSpPr>
        <p:spPr bwMode="auto">
          <a:xfrm>
            <a:off x="4521200" y="31448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6">
            <a:extLst>
              <a:ext uri="{FF2B5EF4-FFF2-40B4-BE49-F238E27FC236}">
                <a16:creationId xmlns:a16="http://schemas.microsoft.com/office/drawing/2014/main" id="{5EC0EDE6-F023-291D-C2CE-E7FA80F96016}"/>
              </a:ext>
            </a:extLst>
          </p:cNvPr>
          <p:cNvSpPr>
            <a:spLocks noChangeArrowheads="1"/>
          </p:cNvSpPr>
          <p:nvPr/>
        </p:nvSpPr>
        <p:spPr bwMode="auto">
          <a:xfrm>
            <a:off x="7398783" y="1597819"/>
            <a:ext cx="17964441" cy="508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2" name="Table 11">
            <a:extLst>
              <a:ext uri="{FF2B5EF4-FFF2-40B4-BE49-F238E27FC236}">
                <a16:creationId xmlns:a16="http://schemas.microsoft.com/office/drawing/2014/main" id="{8F36C775-266F-46CB-B8E6-476F65AAFF2F}"/>
              </a:ext>
            </a:extLst>
          </p:cNvPr>
          <p:cNvGraphicFramePr>
            <a:graphicFrameLocks noGrp="1"/>
          </p:cNvGraphicFramePr>
          <p:nvPr>
            <p:extLst>
              <p:ext uri="{D42A27DB-BD31-4B8C-83A1-F6EECF244321}">
                <p14:modId xmlns:p14="http://schemas.microsoft.com/office/powerpoint/2010/main" val="2188049714"/>
              </p:ext>
            </p:extLst>
          </p:nvPr>
        </p:nvGraphicFramePr>
        <p:xfrm>
          <a:off x="7398783" y="3077566"/>
          <a:ext cx="4652111" cy="1397826"/>
        </p:xfrm>
        <a:graphic>
          <a:graphicData uri="http://schemas.openxmlformats.org/drawingml/2006/table">
            <a:tbl>
              <a:tblPr firstRow="1" firstCol="1" bandRow="1"/>
              <a:tblGrid>
                <a:gridCol w="1881753">
                  <a:extLst>
                    <a:ext uri="{9D8B030D-6E8A-4147-A177-3AD203B41FA5}">
                      <a16:colId xmlns:a16="http://schemas.microsoft.com/office/drawing/2014/main" val="3226279928"/>
                    </a:ext>
                  </a:extLst>
                </a:gridCol>
                <a:gridCol w="1968312">
                  <a:extLst>
                    <a:ext uri="{9D8B030D-6E8A-4147-A177-3AD203B41FA5}">
                      <a16:colId xmlns:a16="http://schemas.microsoft.com/office/drawing/2014/main" val="3734453440"/>
                    </a:ext>
                  </a:extLst>
                </a:gridCol>
                <a:gridCol w="802046">
                  <a:extLst>
                    <a:ext uri="{9D8B030D-6E8A-4147-A177-3AD203B41FA5}">
                      <a16:colId xmlns:a16="http://schemas.microsoft.com/office/drawing/2014/main" val="928038167"/>
                    </a:ext>
                  </a:extLst>
                </a:gridCol>
              </a:tblGrid>
              <a:tr h="184150">
                <a:tc gridSpan="3">
                  <a:txBody>
                    <a:bodyPr/>
                    <a:lstStyle/>
                    <a:p>
                      <a:pPr marL="0" marR="0" algn="ctr">
                        <a:lnSpc>
                          <a:spcPct val="107000"/>
                        </a:lnSpc>
                        <a:spcAft>
                          <a:spcPts val="800"/>
                        </a:spcAft>
                        <a:buNone/>
                      </a:pPr>
                      <a:r>
                        <a:rPr lang="en-US" sz="1600" b="0" kern="100" dirty="0">
                          <a:effectLst/>
                          <a:latin typeface="+mj-lt"/>
                          <a:ea typeface="Aptos" panose="020B0004020202020204" pitchFamily="34" charset="0"/>
                        </a:rPr>
                        <a:t>ECMO Cases by Year Adjusted for Admissions</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marL="0" marR="0" algn="ctr">
                        <a:lnSpc>
                          <a:spcPct val="107000"/>
                        </a:lnSpc>
                        <a:spcAft>
                          <a:spcPts val="800"/>
                        </a:spcAft>
                        <a:buNone/>
                      </a:pPr>
                      <a:endParaRPr lang="en-US" sz="1600" kern="100" dirty="0">
                        <a:effectLst/>
                        <a:latin typeface="+mj-lt"/>
                        <a:ea typeface="Aptos" panose="020B00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marL="0" marR="0" algn="ctr">
                        <a:lnSpc>
                          <a:spcPct val="107000"/>
                        </a:lnSpc>
                        <a:spcAft>
                          <a:spcPts val="800"/>
                        </a:spcAft>
                        <a:buNone/>
                      </a:pPr>
                      <a:endParaRPr lang="en-US" sz="1600" kern="100" dirty="0">
                        <a:effectLst/>
                        <a:latin typeface="+mj-lt"/>
                        <a:ea typeface="Aptos" panose="020B00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4050121"/>
                  </a:ext>
                </a:extLst>
              </a:tr>
              <a:tr h="184150">
                <a:tc>
                  <a:txBody>
                    <a:bodyPr/>
                    <a:lstStyle/>
                    <a:p>
                      <a:pPr marL="0" marR="0">
                        <a:lnSpc>
                          <a:spcPct val="107000"/>
                        </a:lnSpc>
                        <a:spcAft>
                          <a:spcPts val="800"/>
                        </a:spcAft>
                        <a:buNone/>
                      </a:pPr>
                      <a:r>
                        <a:rPr lang="en-US" sz="1600" b="0" kern="100" dirty="0">
                          <a:effectLst/>
                          <a:latin typeface="+mj-lt"/>
                          <a:ea typeface="Aptos" panose="020B0004020202020204" pitchFamily="34" charset="0"/>
                        </a:rPr>
                        <a:t> </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b="0" kern="100" dirty="0">
                          <a:effectLst/>
                          <a:latin typeface="+mj-lt"/>
                          <a:ea typeface="Aptos" panose="020B0004020202020204" pitchFamily="34" charset="0"/>
                        </a:rPr>
                        <a:t>Coefficient (95% CI)</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b="0" kern="100" dirty="0">
                          <a:effectLst/>
                          <a:latin typeface="+mj-lt"/>
                          <a:ea typeface="Aptos" panose="020B0004020202020204" pitchFamily="34" charset="0"/>
                        </a:rPr>
                        <a:t>p-value</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4209691"/>
                  </a:ext>
                </a:extLst>
              </a:tr>
              <a:tr h="184150">
                <a:tc>
                  <a:txBody>
                    <a:bodyPr/>
                    <a:lstStyle/>
                    <a:p>
                      <a:pPr marL="0" marR="0">
                        <a:lnSpc>
                          <a:spcPct val="107000"/>
                        </a:lnSpc>
                        <a:spcAft>
                          <a:spcPts val="800"/>
                        </a:spcAft>
                        <a:buNone/>
                      </a:pPr>
                      <a:r>
                        <a:rPr lang="en-US" sz="1600" b="0" kern="100" dirty="0">
                          <a:effectLst/>
                          <a:latin typeface="+mj-lt"/>
                          <a:ea typeface="Aptos" panose="020B0004020202020204" pitchFamily="34" charset="0"/>
                        </a:rPr>
                        <a:t>Year of Service</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b="0" kern="100" dirty="0">
                          <a:effectLst/>
                          <a:latin typeface="+mj-lt"/>
                          <a:ea typeface="Aptos" panose="020B0004020202020204" pitchFamily="34" charset="0"/>
                        </a:rPr>
                        <a:t>-0.1 (</a:t>
                      </a:r>
                      <a:r>
                        <a:rPr lang="en-US" sz="1600" b="0" kern="100" dirty="0">
                          <a:solidFill>
                            <a:schemeClr val="tx1"/>
                          </a:solidFill>
                          <a:effectLst/>
                          <a:latin typeface="+mj-lt"/>
                          <a:ea typeface="Aptos" panose="020B0004020202020204" pitchFamily="34" charset="0"/>
                          <a:cs typeface="+mn-cs"/>
                        </a:rPr>
                        <a:t>-6.4 – 6.2</a:t>
                      </a:r>
                      <a:r>
                        <a:rPr lang="en-US" sz="1600" b="0" kern="100" dirty="0">
                          <a:effectLst/>
                          <a:latin typeface="+mj-lt"/>
                          <a:ea typeface="Aptos" panose="020B0004020202020204" pitchFamily="34" charset="0"/>
                        </a:rPr>
                        <a:t>)</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b="0" kern="100" dirty="0">
                          <a:effectLst/>
                          <a:latin typeface="+mj-lt"/>
                          <a:ea typeface="Aptos" panose="020B0004020202020204" pitchFamily="34" charset="0"/>
                        </a:rPr>
                        <a:t>0.96</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5783664"/>
                  </a:ext>
                </a:extLst>
              </a:tr>
              <a:tr h="189230">
                <a:tc>
                  <a:txBody>
                    <a:bodyPr/>
                    <a:lstStyle/>
                    <a:p>
                      <a:pPr marL="0" marR="0">
                        <a:lnSpc>
                          <a:spcPct val="107000"/>
                        </a:lnSpc>
                        <a:spcAft>
                          <a:spcPts val="800"/>
                        </a:spcAft>
                        <a:buNone/>
                      </a:pPr>
                      <a:r>
                        <a:rPr lang="en-US" sz="1600" b="0" kern="100" dirty="0">
                          <a:effectLst/>
                          <a:latin typeface="+mj-lt"/>
                          <a:ea typeface="Aptos" panose="020B0004020202020204" pitchFamily="34" charset="0"/>
                        </a:rPr>
                        <a:t>Annual Admissions</a:t>
                      </a:r>
                    </a:p>
                    <a:p>
                      <a:pPr marL="0" marR="0">
                        <a:lnSpc>
                          <a:spcPct val="107000"/>
                        </a:lnSpc>
                        <a:spcAft>
                          <a:spcPts val="800"/>
                        </a:spcAft>
                        <a:buNone/>
                      </a:pPr>
                      <a:r>
                        <a:rPr lang="en-US" sz="1600" b="0" kern="100" dirty="0">
                          <a:effectLst/>
                          <a:latin typeface="+mj-lt"/>
                          <a:ea typeface="Aptos" panose="020B0004020202020204" pitchFamily="34" charset="0"/>
                        </a:rPr>
                        <a:t>(per 100)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600" b="0" kern="100">
                          <a:effectLst/>
                          <a:latin typeface="+mj-lt"/>
                          <a:ea typeface="Aptos" panose="020B0004020202020204" pitchFamily="34" charset="0"/>
                        </a:rPr>
                        <a:t>7.0 (0.7 – 13.4)</a:t>
                      </a:r>
                      <a:endParaRPr lang="en-US" sz="1600" b="0" kern="100" dirty="0">
                        <a:effectLst/>
                        <a:latin typeface="+mj-lt"/>
                        <a:ea typeface="Aptos" panose="020B00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b="0" kern="100" dirty="0">
                          <a:effectLst/>
                          <a:latin typeface="+mj-lt"/>
                          <a:ea typeface="Aptos" panose="020B0004020202020204" pitchFamily="34" charset="0"/>
                        </a:rPr>
                        <a:t>0.04</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4567686"/>
                  </a:ext>
                </a:extLst>
              </a:tr>
            </a:tbl>
          </a:graphicData>
        </a:graphic>
      </p:graphicFrame>
      <p:sp>
        <p:nvSpPr>
          <p:cNvPr id="14" name="Rectangle 2">
            <a:extLst>
              <a:ext uri="{FF2B5EF4-FFF2-40B4-BE49-F238E27FC236}">
                <a16:creationId xmlns:a16="http://schemas.microsoft.com/office/drawing/2014/main" id="{5F0B35D4-35F6-1F9B-50BE-FF3D37A2E343}"/>
              </a:ext>
            </a:extLst>
          </p:cNvPr>
          <p:cNvSpPr>
            <a:spLocks noChangeArrowheads="1"/>
          </p:cNvSpPr>
          <p:nvPr/>
        </p:nvSpPr>
        <p:spPr bwMode="auto">
          <a:xfrm>
            <a:off x="7398783" y="445899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a:extLst>
              <a:ext uri="{FF2B5EF4-FFF2-40B4-BE49-F238E27FC236}">
                <a16:creationId xmlns:a16="http://schemas.microsoft.com/office/drawing/2014/main" id="{1D2BFB5C-5132-C5CD-9495-B64644460C89}"/>
              </a:ext>
            </a:extLst>
          </p:cNvPr>
          <p:cNvPicPr>
            <a:picLocks noChangeAspect="1"/>
          </p:cNvPicPr>
          <p:nvPr/>
        </p:nvPicPr>
        <p:blipFill>
          <a:blip r:embed="rId3"/>
          <a:stretch>
            <a:fillRect/>
          </a:stretch>
        </p:blipFill>
        <p:spPr>
          <a:xfrm>
            <a:off x="-1" y="1541589"/>
            <a:ext cx="7339107" cy="4411949"/>
          </a:xfrm>
          <a:prstGeom prst="rect">
            <a:avLst/>
          </a:prstGeom>
        </p:spPr>
      </p:pic>
    </p:spTree>
    <p:extLst>
      <p:ext uri="{BB962C8B-B14F-4D97-AF65-F5344CB8AC3E}">
        <p14:creationId xmlns:p14="http://schemas.microsoft.com/office/powerpoint/2010/main" val="2959278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44315-304E-7502-0DDC-81A2CA7DC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A19D9-C0C2-93A0-C78A-764701C146CB}"/>
              </a:ext>
            </a:extLst>
          </p:cNvPr>
          <p:cNvSpPr>
            <a:spLocks noGrp="1"/>
          </p:cNvSpPr>
          <p:nvPr>
            <p:ph type="title"/>
          </p:nvPr>
        </p:nvSpPr>
        <p:spPr>
          <a:xfrm>
            <a:off x="0" y="18255"/>
            <a:ext cx="12192000" cy="1325563"/>
          </a:xfrm>
        </p:spPr>
        <p:txBody>
          <a:bodyPr/>
          <a:lstStyle/>
          <a:p>
            <a:r>
              <a:rPr lang="en-US" dirty="0"/>
              <a:t>Has ECMO receipt changed for everyone else?</a:t>
            </a:r>
          </a:p>
        </p:txBody>
      </p:sp>
      <p:sp>
        <p:nvSpPr>
          <p:cNvPr id="3" name="TextBox 2">
            <a:extLst>
              <a:ext uri="{FF2B5EF4-FFF2-40B4-BE49-F238E27FC236}">
                <a16:creationId xmlns:a16="http://schemas.microsoft.com/office/drawing/2014/main" id="{5FDE0AB8-D380-8F72-762F-0151FA12BFC8}"/>
              </a:ext>
            </a:extLst>
          </p:cNvPr>
          <p:cNvSpPr txBox="1"/>
          <p:nvPr/>
        </p:nvSpPr>
        <p:spPr>
          <a:xfrm>
            <a:off x="10365424" y="6488668"/>
            <a:ext cx="2238211" cy="369332"/>
          </a:xfrm>
          <a:prstGeom prst="rect">
            <a:avLst/>
          </a:prstGeom>
          <a:noFill/>
        </p:spPr>
        <p:txBody>
          <a:bodyPr wrap="square">
            <a:spAutoFit/>
          </a:bodyPr>
          <a:lstStyle/>
          <a:p>
            <a:r>
              <a:rPr lang="en-US" b="1" dirty="0">
                <a:solidFill>
                  <a:srgbClr val="FF0000"/>
                </a:solidFill>
              </a:rPr>
              <a:t>Unpublished Data</a:t>
            </a:r>
          </a:p>
        </p:txBody>
      </p:sp>
      <p:sp>
        <p:nvSpPr>
          <p:cNvPr id="8" name="Rectangle 2">
            <a:extLst>
              <a:ext uri="{FF2B5EF4-FFF2-40B4-BE49-F238E27FC236}">
                <a16:creationId xmlns:a16="http://schemas.microsoft.com/office/drawing/2014/main" id="{158D9C70-20A8-1C21-E510-302DC2BD4805}"/>
              </a:ext>
            </a:extLst>
          </p:cNvPr>
          <p:cNvSpPr>
            <a:spLocks noChangeArrowheads="1"/>
          </p:cNvSpPr>
          <p:nvPr/>
        </p:nvSpPr>
        <p:spPr bwMode="auto">
          <a:xfrm>
            <a:off x="7398785" y="1580986"/>
            <a:ext cx="18185667" cy="534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3" name="Rectangle 4">
            <a:extLst>
              <a:ext uri="{FF2B5EF4-FFF2-40B4-BE49-F238E27FC236}">
                <a16:creationId xmlns:a16="http://schemas.microsoft.com/office/drawing/2014/main" id="{F829994B-DBDF-E2DF-7288-7E8845C06D2C}"/>
              </a:ext>
            </a:extLst>
          </p:cNvPr>
          <p:cNvSpPr>
            <a:spLocks noChangeArrowheads="1"/>
          </p:cNvSpPr>
          <p:nvPr/>
        </p:nvSpPr>
        <p:spPr bwMode="auto">
          <a:xfrm>
            <a:off x="4521200" y="23241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5" name="Table 14">
            <a:extLst>
              <a:ext uri="{FF2B5EF4-FFF2-40B4-BE49-F238E27FC236}">
                <a16:creationId xmlns:a16="http://schemas.microsoft.com/office/drawing/2014/main" id="{34F7DCCF-7153-8179-84A8-F74C91148FE4}"/>
              </a:ext>
            </a:extLst>
          </p:cNvPr>
          <p:cNvGraphicFramePr>
            <a:graphicFrameLocks noGrp="1"/>
          </p:cNvGraphicFramePr>
          <p:nvPr>
            <p:extLst>
              <p:ext uri="{D42A27DB-BD31-4B8C-83A1-F6EECF244321}">
                <p14:modId xmlns:p14="http://schemas.microsoft.com/office/powerpoint/2010/main" val="3709978618"/>
              </p:ext>
            </p:extLst>
          </p:nvPr>
        </p:nvGraphicFramePr>
        <p:xfrm>
          <a:off x="7398784" y="3088748"/>
          <a:ext cx="4703785" cy="1397826"/>
        </p:xfrm>
        <a:graphic>
          <a:graphicData uri="http://schemas.openxmlformats.org/drawingml/2006/table">
            <a:tbl>
              <a:tblPr firstRow="1" firstCol="1" bandRow="1"/>
              <a:tblGrid>
                <a:gridCol w="1902655">
                  <a:extLst>
                    <a:ext uri="{9D8B030D-6E8A-4147-A177-3AD203B41FA5}">
                      <a16:colId xmlns:a16="http://schemas.microsoft.com/office/drawing/2014/main" val="2963719489"/>
                    </a:ext>
                  </a:extLst>
                </a:gridCol>
                <a:gridCol w="2014261">
                  <a:extLst>
                    <a:ext uri="{9D8B030D-6E8A-4147-A177-3AD203B41FA5}">
                      <a16:colId xmlns:a16="http://schemas.microsoft.com/office/drawing/2014/main" val="3022866003"/>
                    </a:ext>
                  </a:extLst>
                </a:gridCol>
                <a:gridCol w="786869">
                  <a:extLst>
                    <a:ext uri="{9D8B030D-6E8A-4147-A177-3AD203B41FA5}">
                      <a16:colId xmlns:a16="http://schemas.microsoft.com/office/drawing/2014/main" val="3734607572"/>
                    </a:ext>
                  </a:extLst>
                </a:gridCol>
              </a:tblGrid>
              <a:tr h="184150">
                <a:tc gridSpan="3">
                  <a:txBody>
                    <a:bodyPr/>
                    <a:lstStyle/>
                    <a:p>
                      <a:pPr marL="0" marR="0" algn="ctr">
                        <a:lnSpc>
                          <a:spcPct val="107000"/>
                        </a:lnSpc>
                        <a:spcAft>
                          <a:spcPts val="800"/>
                        </a:spcAft>
                        <a:buNone/>
                      </a:pPr>
                      <a:r>
                        <a:rPr lang="en-US" sz="1600" kern="100" dirty="0">
                          <a:effectLst/>
                          <a:latin typeface="+mj-lt"/>
                          <a:ea typeface="Aptos" panose="020B0004020202020204" pitchFamily="34" charset="0"/>
                        </a:rPr>
                        <a:t>ECMO Cases by Year Adjusted for Admissions</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37525909"/>
                  </a:ext>
                </a:extLst>
              </a:tr>
              <a:tr h="184150">
                <a:tc>
                  <a:txBody>
                    <a:bodyPr/>
                    <a:lstStyle/>
                    <a:p>
                      <a:pPr marL="0" marR="0">
                        <a:lnSpc>
                          <a:spcPct val="107000"/>
                        </a:lnSpc>
                        <a:spcAft>
                          <a:spcPts val="800"/>
                        </a:spcAft>
                        <a:buNone/>
                      </a:pPr>
                      <a:r>
                        <a:rPr lang="en-US" sz="1600" kern="100">
                          <a:effectLst/>
                          <a:latin typeface="+mj-lt"/>
                          <a:ea typeface="Aptos" panose="020B0004020202020204" pitchFamily="34" charset="0"/>
                        </a:rPr>
                        <a:t> </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b="0" kern="100" dirty="0">
                          <a:effectLst/>
                          <a:latin typeface="+mj-lt"/>
                          <a:ea typeface="Aptos" panose="020B0004020202020204" pitchFamily="34" charset="0"/>
                        </a:rPr>
                        <a:t>Coefficient (95% CI)</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b="0" kern="100" dirty="0">
                          <a:effectLst/>
                          <a:latin typeface="+mj-lt"/>
                          <a:ea typeface="Aptos" panose="020B0004020202020204" pitchFamily="34" charset="0"/>
                        </a:rPr>
                        <a:t>p-value</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6143655"/>
                  </a:ext>
                </a:extLst>
              </a:tr>
              <a:tr h="184150">
                <a:tc>
                  <a:txBody>
                    <a:bodyPr/>
                    <a:lstStyle/>
                    <a:p>
                      <a:pPr marL="0" marR="0">
                        <a:lnSpc>
                          <a:spcPct val="107000"/>
                        </a:lnSpc>
                        <a:spcAft>
                          <a:spcPts val="800"/>
                        </a:spcAft>
                        <a:buNone/>
                      </a:pPr>
                      <a:r>
                        <a:rPr lang="en-US" sz="1600" kern="100" dirty="0">
                          <a:effectLst/>
                          <a:latin typeface="+mj-lt"/>
                          <a:ea typeface="Aptos" panose="020B0004020202020204" pitchFamily="34" charset="0"/>
                        </a:rPr>
                        <a:t>Year of Service</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kern="100" dirty="0">
                          <a:effectLst/>
                          <a:latin typeface="+mj-lt"/>
                          <a:ea typeface="Aptos" panose="020B0004020202020204" pitchFamily="34" charset="0"/>
                        </a:rPr>
                        <a:t>-7.2 (</a:t>
                      </a:r>
                      <a:r>
                        <a:rPr lang="en-US" sz="1600" kern="100" dirty="0">
                          <a:solidFill>
                            <a:schemeClr val="tx1"/>
                          </a:solidFill>
                          <a:effectLst/>
                          <a:latin typeface="+mj-lt"/>
                          <a:ea typeface="Aptos" panose="020B0004020202020204" pitchFamily="34" charset="0"/>
                          <a:cs typeface="+mn-cs"/>
                        </a:rPr>
                        <a:t>-57.6 – 43.3</a:t>
                      </a:r>
                      <a:r>
                        <a:rPr lang="en-US" sz="1600" kern="100" dirty="0">
                          <a:effectLst/>
                          <a:latin typeface="+mj-lt"/>
                          <a:ea typeface="Aptos" panose="020B0004020202020204" pitchFamily="34" charset="0"/>
                        </a:rPr>
                        <a:t>)</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0.73</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0764239"/>
                  </a:ext>
                </a:extLst>
              </a:tr>
              <a:tr h="189230">
                <a:tc>
                  <a:txBody>
                    <a:bodyPr/>
                    <a:lstStyle/>
                    <a:p>
                      <a:pPr marL="0" marR="0">
                        <a:lnSpc>
                          <a:spcPct val="107000"/>
                        </a:lnSpc>
                        <a:spcAft>
                          <a:spcPts val="800"/>
                        </a:spcAft>
                        <a:buNone/>
                      </a:pPr>
                      <a:r>
                        <a:rPr lang="en-US" sz="1600" kern="100" dirty="0">
                          <a:effectLst/>
                          <a:latin typeface="+mj-lt"/>
                          <a:ea typeface="Aptos" panose="020B0004020202020204" pitchFamily="34" charset="0"/>
                        </a:rPr>
                        <a:t>Annual Admissions</a:t>
                      </a:r>
                    </a:p>
                    <a:p>
                      <a:pPr marL="0" marR="0">
                        <a:lnSpc>
                          <a:spcPct val="107000"/>
                        </a:lnSpc>
                        <a:spcAft>
                          <a:spcPts val="800"/>
                        </a:spcAft>
                        <a:buNone/>
                      </a:pPr>
                      <a:r>
                        <a:rPr lang="en-US" sz="1600" kern="100" dirty="0">
                          <a:effectLst/>
                          <a:latin typeface="+mj-lt"/>
                          <a:ea typeface="Aptos" panose="020B0004020202020204" pitchFamily="34" charset="0"/>
                        </a:rPr>
                        <a:t>(per 1,000)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600" kern="100" dirty="0">
                          <a:effectLst/>
                          <a:latin typeface="+mj-lt"/>
                          <a:ea typeface="Aptos" panose="020B0004020202020204" pitchFamily="34" charset="0"/>
                        </a:rPr>
                        <a:t>24.5 (</a:t>
                      </a:r>
                      <a:r>
                        <a:rPr lang="en-US" sz="1600" kern="100" dirty="0">
                          <a:solidFill>
                            <a:schemeClr val="tx1"/>
                          </a:solidFill>
                          <a:effectLst/>
                          <a:latin typeface="+mj-lt"/>
                          <a:ea typeface="Aptos" panose="020B0004020202020204" pitchFamily="34" charset="0"/>
                          <a:cs typeface="+mn-cs"/>
                        </a:rPr>
                        <a:t>3.2 – 45.8</a:t>
                      </a:r>
                      <a:r>
                        <a:rPr lang="en-US" sz="1600" kern="100" dirty="0">
                          <a:effectLst/>
                          <a:latin typeface="+mj-lt"/>
                          <a:ea typeface="Aptos" panose="020B0004020202020204" pitchFamily="34" charset="0"/>
                        </a:rPr>
                        <a:t>)</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0.03</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9961218"/>
                  </a:ext>
                </a:extLst>
              </a:tr>
            </a:tbl>
          </a:graphicData>
        </a:graphic>
      </p:graphicFrame>
      <p:sp>
        <p:nvSpPr>
          <p:cNvPr id="17" name="Rectangle 2">
            <a:extLst>
              <a:ext uri="{FF2B5EF4-FFF2-40B4-BE49-F238E27FC236}">
                <a16:creationId xmlns:a16="http://schemas.microsoft.com/office/drawing/2014/main" id="{1D079C5D-1AD4-0B0B-5D30-4D66C2201274}"/>
              </a:ext>
            </a:extLst>
          </p:cNvPr>
          <p:cNvSpPr>
            <a:spLocks noChangeArrowheads="1"/>
          </p:cNvSpPr>
          <p:nvPr/>
        </p:nvSpPr>
        <p:spPr bwMode="auto">
          <a:xfrm>
            <a:off x="7398784" y="438793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a:extLst>
              <a:ext uri="{FF2B5EF4-FFF2-40B4-BE49-F238E27FC236}">
                <a16:creationId xmlns:a16="http://schemas.microsoft.com/office/drawing/2014/main" id="{D4740E01-6CA4-3267-6AF4-4E70F0361710}"/>
              </a:ext>
            </a:extLst>
          </p:cNvPr>
          <p:cNvPicPr>
            <a:picLocks noChangeAspect="1"/>
          </p:cNvPicPr>
          <p:nvPr/>
        </p:nvPicPr>
        <p:blipFill>
          <a:blip r:embed="rId3"/>
          <a:stretch>
            <a:fillRect/>
          </a:stretch>
        </p:blipFill>
        <p:spPr>
          <a:xfrm>
            <a:off x="-1" y="1580985"/>
            <a:ext cx="7323175" cy="4402371"/>
          </a:xfrm>
          <a:prstGeom prst="rect">
            <a:avLst/>
          </a:prstGeom>
        </p:spPr>
      </p:pic>
    </p:spTree>
    <p:extLst>
      <p:ext uri="{BB962C8B-B14F-4D97-AF65-F5344CB8AC3E}">
        <p14:creationId xmlns:p14="http://schemas.microsoft.com/office/powerpoint/2010/main" val="70476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45DF7-8D57-458D-EBCF-9D03B8A3C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25312-7983-851A-F737-9018ECBD7823}"/>
              </a:ext>
            </a:extLst>
          </p:cNvPr>
          <p:cNvSpPr>
            <a:spLocks noGrp="1"/>
          </p:cNvSpPr>
          <p:nvPr>
            <p:ph type="title"/>
          </p:nvPr>
        </p:nvSpPr>
        <p:spPr>
          <a:xfrm>
            <a:off x="0" y="18255"/>
            <a:ext cx="12062564" cy="1325563"/>
          </a:xfrm>
        </p:spPr>
        <p:txBody>
          <a:bodyPr/>
          <a:lstStyle/>
          <a:p>
            <a:r>
              <a:rPr lang="en-US" dirty="0"/>
              <a:t>Has ECMO receipt changed for trisomy patients?</a:t>
            </a:r>
          </a:p>
        </p:txBody>
      </p:sp>
      <p:sp>
        <p:nvSpPr>
          <p:cNvPr id="20" name="Rectangle 2">
            <a:extLst>
              <a:ext uri="{FF2B5EF4-FFF2-40B4-BE49-F238E27FC236}">
                <a16:creationId xmlns:a16="http://schemas.microsoft.com/office/drawing/2014/main" id="{FE495D02-9676-A952-8950-21867B2C7E49}"/>
              </a:ext>
            </a:extLst>
          </p:cNvPr>
          <p:cNvSpPr>
            <a:spLocks noChangeArrowheads="1"/>
          </p:cNvSpPr>
          <p:nvPr/>
        </p:nvSpPr>
        <p:spPr bwMode="auto">
          <a:xfrm>
            <a:off x="7694920" y="319621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FB4DB217-41D4-E3CC-F000-AB906786F3B1}"/>
              </a:ext>
            </a:extLst>
          </p:cNvPr>
          <p:cNvSpPr txBox="1"/>
          <p:nvPr/>
        </p:nvSpPr>
        <p:spPr>
          <a:xfrm>
            <a:off x="10365424" y="6488668"/>
            <a:ext cx="2238211" cy="369332"/>
          </a:xfrm>
          <a:prstGeom prst="rect">
            <a:avLst/>
          </a:prstGeom>
          <a:noFill/>
        </p:spPr>
        <p:txBody>
          <a:bodyPr wrap="square">
            <a:spAutoFit/>
          </a:bodyPr>
          <a:lstStyle/>
          <a:p>
            <a:r>
              <a:rPr lang="en-US" b="1" dirty="0">
                <a:solidFill>
                  <a:srgbClr val="FF0000"/>
                </a:solidFill>
              </a:rPr>
              <a:t>Unpublished Data</a:t>
            </a:r>
          </a:p>
        </p:txBody>
      </p:sp>
      <p:sp>
        <p:nvSpPr>
          <p:cNvPr id="7" name="Rectangle 2">
            <a:extLst>
              <a:ext uri="{FF2B5EF4-FFF2-40B4-BE49-F238E27FC236}">
                <a16:creationId xmlns:a16="http://schemas.microsoft.com/office/drawing/2014/main" id="{FE5F0AEE-7633-597B-7470-2BD68D7B92AB}"/>
              </a:ext>
            </a:extLst>
          </p:cNvPr>
          <p:cNvSpPr>
            <a:spLocks noChangeArrowheads="1"/>
          </p:cNvSpPr>
          <p:nvPr/>
        </p:nvSpPr>
        <p:spPr bwMode="auto">
          <a:xfrm>
            <a:off x="7427065" y="157153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Table 9">
            <a:extLst>
              <a:ext uri="{FF2B5EF4-FFF2-40B4-BE49-F238E27FC236}">
                <a16:creationId xmlns:a16="http://schemas.microsoft.com/office/drawing/2014/main" id="{85B0E706-3E77-C3F8-846B-B6984245212E}"/>
              </a:ext>
            </a:extLst>
          </p:cNvPr>
          <p:cNvGraphicFramePr>
            <a:graphicFrameLocks noGrp="1"/>
          </p:cNvGraphicFramePr>
          <p:nvPr>
            <p:extLst>
              <p:ext uri="{D42A27DB-BD31-4B8C-83A1-F6EECF244321}">
                <p14:modId xmlns:p14="http://schemas.microsoft.com/office/powerpoint/2010/main" val="1755125268"/>
              </p:ext>
            </p:extLst>
          </p:nvPr>
        </p:nvGraphicFramePr>
        <p:xfrm>
          <a:off x="7338164" y="3114315"/>
          <a:ext cx="4724400" cy="1296226"/>
        </p:xfrm>
        <a:graphic>
          <a:graphicData uri="http://schemas.openxmlformats.org/drawingml/2006/table">
            <a:tbl>
              <a:tblPr firstRow="1" firstCol="1" bandRow="1"/>
              <a:tblGrid>
                <a:gridCol w="1877760">
                  <a:extLst>
                    <a:ext uri="{9D8B030D-6E8A-4147-A177-3AD203B41FA5}">
                      <a16:colId xmlns:a16="http://schemas.microsoft.com/office/drawing/2014/main" val="473937338"/>
                    </a:ext>
                  </a:extLst>
                </a:gridCol>
                <a:gridCol w="1917190">
                  <a:extLst>
                    <a:ext uri="{9D8B030D-6E8A-4147-A177-3AD203B41FA5}">
                      <a16:colId xmlns:a16="http://schemas.microsoft.com/office/drawing/2014/main" val="3843939295"/>
                    </a:ext>
                  </a:extLst>
                </a:gridCol>
                <a:gridCol w="929450">
                  <a:extLst>
                    <a:ext uri="{9D8B030D-6E8A-4147-A177-3AD203B41FA5}">
                      <a16:colId xmlns:a16="http://schemas.microsoft.com/office/drawing/2014/main" val="2045083194"/>
                    </a:ext>
                  </a:extLst>
                </a:gridCol>
              </a:tblGrid>
              <a:tr h="188109">
                <a:tc gridSpan="3">
                  <a:txBody>
                    <a:bodyPr/>
                    <a:lstStyle/>
                    <a:p>
                      <a:pPr marL="0" marR="0" algn="ctr">
                        <a:lnSpc>
                          <a:spcPct val="107000"/>
                        </a:lnSpc>
                        <a:spcAft>
                          <a:spcPts val="800"/>
                        </a:spcAft>
                        <a:buNone/>
                      </a:pPr>
                      <a:r>
                        <a:rPr lang="en-US" sz="1600" kern="100">
                          <a:effectLst/>
                          <a:latin typeface="+mj-lt"/>
                          <a:ea typeface="Aptos" panose="020B0004020202020204" pitchFamily="34" charset="0"/>
                        </a:rPr>
                        <a:t>ECMO Cases by Year Adjusted for Admissions</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80471793"/>
                  </a:ext>
                </a:extLst>
              </a:tr>
              <a:tr h="188109">
                <a:tc>
                  <a:txBody>
                    <a:bodyPr/>
                    <a:lstStyle/>
                    <a:p>
                      <a:pPr marL="0" marR="0">
                        <a:lnSpc>
                          <a:spcPct val="107000"/>
                        </a:lnSpc>
                        <a:spcAft>
                          <a:spcPts val="800"/>
                        </a:spcAft>
                        <a:buNone/>
                      </a:pPr>
                      <a:r>
                        <a:rPr lang="en-US" sz="1600" kern="100">
                          <a:effectLst/>
                          <a:latin typeface="+mj-lt"/>
                          <a:ea typeface="Aptos" panose="020B0004020202020204" pitchFamily="34" charset="0"/>
                        </a:rPr>
                        <a:t> </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b="0" kern="100" dirty="0">
                          <a:effectLst/>
                          <a:latin typeface="+mj-lt"/>
                          <a:ea typeface="Aptos" panose="020B0004020202020204" pitchFamily="34" charset="0"/>
                        </a:rPr>
                        <a:t>Coefficient (95% CI)</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b="0" kern="100" dirty="0">
                          <a:effectLst/>
                          <a:latin typeface="+mj-lt"/>
                          <a:ea typeface="Aptos" panose="020B0004020202020204" pitchFamily="34" charset="0"/>
                        </a:rPr>
                        <a:t>p-value</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0312588"/>
                  </a:ext>
                </a:extLst>
              </a:tr>
              <a:tr h="188109">
                <a:tc>
                  <a:txBody>
                    <a:bodyPr/>
                    <a:lstStyle/>
                    <a:p>
                      <a:pPr marL="0" marR="0">
                        <a:lnSpc>
                          <a:spcPct val="107000"/>
                        </a:lnSpc>
                        <a:spcAft>
                          <a:spcPts val="800"/>
                        </a:spcAft>
                        <a:buNone/>
                      </a:pPr>
                      <a:r>
                        <a:rPr lang="en-US" sz="1600" kern="100" dirty="0">
                          <a:effectLst/>
                          <a:latin typeface="+mj-lt"/>
                          <a:ea typeface="Aptos" panose="020B0004020202020204" pitchFamily="34" charset="0"/>
                        </a:rPr>
                        <a:t>Year of Service</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kern="100" dirty="0">
                          <a:effectLst/>
                          <a:latin typeface="+mj-lt"/>
                          <a:ea typeface="Aptos" panose="020B0004020202020204" pitchFamily="34" charset="0"/>
                        </a:rPr>
                        <a:t>-0.2 (</a:t>
                      </a:r>
                      <a:r>
                        <a:rPr lang="en-US" sz="1600" kern="100" dirty="0">
                          <a:solidFill>
                            <a:schemeClr val="tx1"/>
                          </a:solidFill>
                          <a:effectLst/>
                          <a:latin typeface="+mj-lt"/>
                          <a:ea typeface="Aptos" panose="020B0004020202020204" pitchFamily="34" charset="0"/>
                          <a:cs typeface="+mn-cs"/>
                        </a:rPr>
                        <a:t>-1.5 – 1.0</a:t>
                      </a:r>
                      <a:r>
                        <a:rPr lang="en-US" sz="1600" kern="100" dirty="0">
                          <a:effectLst/>
                          <a:latin typeface="+mj-lt"/>
                          <a:ea typeface="Aptos" panose="020B0004020202020204" pitchFamily="34" charset="0"/>
                        </a:rPr>
                        <a:t>)</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0.64</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2978017"/>
                  </a:ext>
                </a:extLst>
              </a:tr>
              <a:tr h="193298">
                <a:tc>
                  <a:txBody>
                    <a:bodyPr/>
                    <a:lstStyle/>
                    <a:p>
                      <a:pPr marL="0" marR="0">
                        <a:lnSpc>
                          <a:spcPct val="107000"/>
                        </a:lnSpc>
                        <a:spcAft>
                          <a:spcPts val="800"/>
                        </a:spcAft>
                        <a:buNone/>
                      </a:pPr>
                      <a:r>
                        <a:rPr lang="en-US" sz="1600" kern="100" dirty="0">
                          <a:effectLst/>
                          <a:latin typeface="+mj-lt"/>
                          <a:ea typeface="Aptos" panose="020B0004020202020204" pitchFamily="34" charset="0"/>
                        </a:rPr>
                        <a:t>Annual Admissions (per 50)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600" kern="100" dirty="0">
                          <a:effectLst/>
                          <a:latin typeface="+mj-lt"/>
                          <a:ea typeface="Aptos" panose="020B0004020202020204" pitchFamily="34" charset="0"/>
                        </a:rPr>
                        <a:t>0.6 (</a:t>
                      </a:r>
                      <a:r>
                        <a:rPr lang="en-US" sz="1600" kern="100" dirty="0">
                          <a:solidFill>
                            <a:schemeClr val="tx1"/>
                          </a:solidFill>
                          <a:effectLst/>
                          <a:latin typeface="+mj-lt"/>
                          <a:ea typeface="Aptos" panose="020B0004020202020204" pitchFamily="34" charset="0"/>
                          <a:cs typeface="+mn-cs"/>
                        </a:rPr>
                        <a:t>-1.5 – 2.6)</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0.50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2150102"/>
                  </a:ext>
                </a:extLst>
              </a:tr>
            </a:tbl>
          </a:graphicData>
        </a:graphic>
      </p:graphicFrame>
      <p:sp>
        <p:nvSpPr>
          <p:cNvPr id="11" name="Rectangle 2">
            <a:extLst>
              <a:ext uri="{FF2B5EF4-FFF2-40B4-BE49-F238E27FC236}">
                <a16:creationId xmlns:a16="http://schemas.microsoft.com/office/drawing/2014/main" id="{122F6AE5-54C8-DDF6-E1B5-AB8533C09E19}"/>
              </a:ext>
            </a:extLst>
          </p:cNvPr>
          <p:cNvSpPr>
            <a:spLocks noChangeArrowheads="1"/>
          </p:cNvSpPr>
          <p:nvPr/>
        </p:nvSpPr>
        <p:spPr bwMode="auto">
          <a:xfrm>
            <a:off x="7406449" y="470036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a:extLst>
              <a:ext uri="{FF2B5EF4-FFF2-40B4-BE49-F238E27FC236}">
                <a16:creationId xmlns:a16="http://schemas.microsoft.com/office/drawing/2014/main" id="{BFBAE7DC-A08B-DECA-AFEC-00C1224C8446}"/>
              </a:ext>
            </a:extLst>
          </p:cNvPr>
          <p:cNvPicPr>
            <a:picLocks noChangeAspect="1"/>
          </p:cNvPicPr>
          <p:nvPr/>
        </p:nvPicPr>
        <p:blipFill>
          <a:blip r:embed="rId3"/>
          <a:stretch>
            <a:fillRect/>
          </a:stretch>
        </p:blipFill>
        <p:spPr>
          <a:xfrm>
            <a:off x="0" y="1571530"/>
            <a:ext cx="7253644" cy="4360572"/>
          </a:xfrm>
          <a:prstGeom prst="rect">
            <a:avLst/>
          </a:prstGeom>
        </p:spPr>
      </p:pic>
    </p:spTree>
    <p:extLst>
      <p:ext uri="{BB962C8B-B14F-4D97-AF65-F5344CB8AC3E}">
        <p14:creationId xmlns:p14="http://schemas.microsoft.com/office/powerpoint/2010/main" val="129949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37816-1CA5-7384-0B54-DE5FA2EC3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BD9AF-4D95-8C49-67BA-74C7B93D49AB}"/>
              </a:ext>
            </a:extLst>
          </p:cNvPr>
          <p:cNvSpPr>
            <a:spLocks noGrp="1"/>
          </p:cNvSpPr>
          <p:nvPr>
            <p:ph type="title"/>
          </p:nvPr>
        </p:nvSpPr>
        <p:spPr>
          <a:xfrm>
            <a:off x="0" y="18255"/>
            <a:ext cx="12192000" cy="1325563"/>
          </a:xfrm>
        </p:spPr>
        <p:txBody>
          <a:bodyPr/>
          <a:lstStyle/>
          <a:p>
            <a:r>
              <a:rPr lang="en-US" dirty="0"/>
              <a:t>Has ECMO receipt changed for oncologic/HSCT patients?</a:t>
            </a:r>
          </a:p>
        </p:txBody>
      </p:sp>
      <p:sp>
        <p:nvSpPr>
          <p:cNvPr id="3" name="TextBox 2">
            <a:extLst>
              <a:ext uri="{FF2B5EF4-FFF2-40B4-BE49-F238E27FC236}">
                <a16:creationId xmlns:a16="http://schemas.microsoft.com/office/drawing/2014/main" id="{6FDAF7AD-C784-B2ED-1180-16E2C1AF4C62}"/>
              </a:ext>
            </a:extLst>
          </p:cNvPr>
          <p:cNvSpPr txBox="1"/>
          <p:nvPr/>
        </p:nvSpPr>
        <p:spPr>
          <a:xfrm>
            <a:off x="10365424" y="6488668"/>
            <a:ext cx="2238211" cy="369332"/>
          </a:xfrm>
          <a:prstGeom prst="rect">
            <a:avLst/>
          </a:prstGeom>
          <a:noFill/>
        </p:spPr>
        <p:txBody>
          <a:bodyPr wrap="square">
            <a:spAutoFit/>
          </a:bodyPr>
          <a:lstStyle/>
          <a:p>
            <a:r>
              <a:rPr lang="en-US" b="1" dirty="0">
                <a:solidFill>
                  <a:srgbClr val="FF0000"/>
                </a:solidFill>
              </a:rPr>
              <a:t>Unpublished Data</a:t>
            </a:r>
          </a:p>
        </p:txBody>
      </p:sp>
      <p:sp>
        <p:nvSpPr>
          <p:cNvPr id="8" name="Rectangle 2">
            <a:extLst>
              <a:ext uri="{FF2B5EF4-FFF2-40B4-BE49-F238E27FC236}">
                <a16:creationId xmlns:a16="http://schemas.microsoft.com/office/drawing/2014/main" id="{E91F6A25-7E23-9792-0D9C-45A9D10BA94C}"/>
              </a:ext>
            </a:extLst>
          </p:cNvPr>
          <p:cNvSpPr>
            <a:spLocks noChangeArrowheads="1"/>
          </p:cNvSpPr>
          <p:nvPr/>
        </p:nvSpPr>
        <p:spPr bwMode="auto">
          <a:xfrm>
            <a:off x="7398785" y="1629145"/>
            <a:ext cx="18208200" cy="66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3" name="Rectangle 4">
            <a:extLst>
              <a:ext uri="{FF2B5EF4-FFF2-40B4-BE49-F238E27FC236}">
                <a16:creationId xmlns:a16="http://schemas.microsoft.com/office/drawing/2014/main" id="{7C0D8313-7220-BC49-8DBC-7D308F339E3E}"/>
              </a:ext>
            </a:extLst>
          </p:cNvPr>
          <p:cNvSpPr>
            <a:spLocks noChangeArrowheads="1"/>
          </p:cNvSpPr>
          <p:nvPr/>
        </p:nvSpPr>
        <p:spPr bwMode="auto">
          <a:xfrm>
            <a:off x="7398784" y="1629209"/>
            <a:ext cx="18208200" cy="464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graphicFrame>
        <p:nvGraphicFramePr>
          <p:cNvPr id="15" name="Table 14">
            <a:extLst>
              <a:ext uri="{FF2B5EF4-FFF2-40B4-BE49-F238E27FC236}">
                <a16:creationId xmlns:a16="http://schemas.microsoft.com/office/drawing/2014/main" id="{2851039D-6B79-E32F-E66B-93D3DF2ABCDE}"/>
              </a:ext>
            </a:extLst>
          </p:cNvPr>
          <p:cNvGraphicFramePr>
            <a:graphicFrameLocks noGrp="1"/>
          </p:cNvGraphicFramePr>
          <p:nvPr>
            <p:extLst>
              <p:ext uri="{D42A27DB-BD31-4B8C-83A1-F6EECF244321}">
                <p14:modId xmlns:p14="http://schemas.microsoft.com/office/powerpoint/2010/main" val="2562261457"/>
              </p:ext>
            </p:extLst>
          </p:nvPr>
        </p:nvGraphicFramePr>
        <p:xfrm>
          <a:off x="7398784" y="3059720"/>
          <a:ext cx="4703785" cy="1397826"/>
        </p:xfrm>
        <a:graphic>
          <a:graphicData uri="http://schemas.openxmlformats.org/drawingml/2006/table">
            <a:tbl>
              <a:tblPr firstRow="1" firstCol="1" bandRow="1"/>
              <a:tblGrid>
                <a:gridCol w="1902655">
                  <a:extLst>
                    <a:ext uri="{9D8B030D-6E8A-4147-A177-3AD203B41FA5}">
                      <a16:colId xmlns:a16="http://schemas.microsoft.com/office/drawing/2014/main" val="4124957189"/>
                    </a:ext>
                  </a:extLst>
                </a:gridCol>
                <a:gridCol w="2052362">
                  <a:extLst>
                    <a:ext uri="{9D8B030D-6E8A-4147-A177-3AD203B41FA5}">
                      <a16:colId xmlns:a16="http://schemas.microsoft.com/office/drawing/2014/main" val="2107227447"/>
                    </a:ext>
                  </a:extLst>
                </a:gridCol>
                <a:gridCol w="748768">
                  <a:extLst>
                    <a:ext uri="{9D8B030D-6E8A-4147-A177-3AD203B41FA5}">
                      <a16:colId xmlns:a16="http://schemas.microsoft.com/office/drawing/2014/main" val="3869206477"/>
                    </a:ext>
                  </a:extLst>
                </a:gridCol>
              </a:tblGrid>
              <a:tr h="184150">
                <a:tc gridSpan="3">
                  <a:txBody>
                    <a:bodyPr/>
                    <a:lstStyle/>
                    <a:p>
                      <a:pPr marL="0" marR="0" algn="ctr">
                        <a:lnSpc>
                          <a:spcPct val="107000"/>
                        </a:lnSpc>
                        <a:spcAft>
                          <a:spcPts val="800"/>
                        </a:spcAft>
                        <a:buNone/>
                      </a:pPr>
                      <a:r>
                        <a:rPr lang="en-US" sz="1600" kern="100" dirty="0">
                          <a:effectLst/>
                          <a:latin typeface="+mj-lt"/>
                          <a:ea typeface="Aptos" panose="020B0004020202020204" pitchFamily="34" charset="0"/>
                        </a:rPr>
                        <a:t>ECMO Cases by Year Adjusted for Admissions</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24205886"/>
                  </a:ext>
                </a:extLst>
              </a:tr>
              <a:tr h="184150">
                <a:tc>
                  <a:txBody>
                    <a:bodyPr/>
                    <a:lstStyle/>
                    <a:p>
                      <a:pPr marL="0" marR="0">
                        <a:lnSpc>
                          <a:spcPct val="107000"/>
                        </a:lnSpc>
                        <a:spcAft>
                          <a:spcPts val="800"/>
                        </a:spcAft>
                        <a:buNone/>
                      </a:pPr>
                      <a:r>
                        <a:rPr lang="en-US" sz="1600" kern="100" dirty="0">
                          <a:effectLst/>
                          <a:latin typeface="+mj-lt"/>
                          <a:ea typeface="Aptos" panose="020B0004020202020204" pitchFamily="34" charset="0"/>
                        </a:rPr>
                        <a:t> </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b="0" kern="100" dirty="0">
                          <a:effectLst/>
                          <a:latin typeface="+mj-lt"/>
                          <a:ea typeface="Aptos" panose="020B0004020202020204" pitchFamily="34" charset="0"/>
                        </a:rPr>
                        <a:t>Coefficient (95% CI)</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b="0" kern="100" dirty="0">
                          <a:effectLst/>
                          <a:latin typeface="+mj-lt"/>
                          <a:ea typeface="Aptos" panose="020B0004020202020204" pitchFamily="34" charset="0"/>
                        </a:rPr>
                        <a:t>p-value</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7087650"/>
                  </a:ext>
                </a:extLst>
              </a:tr>
              <a:tr h="184150">
                <a:tc>
                  <a:txBody>
                    <a:bodyPr/>
                    <a:lstStyle/>
                    <a:p>
                      <a:pPr marL="0" marR="0">
                        <a:lnSpc>
                          <a:spcPct val="107000"/>
                        </a:lnSpc>
                        <a:spcAft>
                          <a:spcPts val="800"/>
                        </a:spcAft>
                        <a:buNone/>
                      </a:pPr>
                      <a:r>
                        <a:rPr lang="en-US" sz="1600" kern="100" dirty="0">
                          <a:effectLst/>
                          <a:latin typeface="+mj-lt"/>
                          <a:ea typeface="Aptos" panose="020B0004020202020204" pitchFamily="34" charset="0"/>
                        </a:rPr>
                        <a:t>Year of Service</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600" kern="100" dirty="0">
                          <a:effectLst/>
                          <a:latin typeface="+mj-lt"/>
                          <a:ea typeface="Aptos" panose="020B0004020202020204" pitchFamily="34" charset="0"/>
                        </a:rPr>
                        <a:t>0.7 (</a:t>
                      </a:r>
                      <a:r>
                        <a:rPr lang="en-US" sz="1600" kern="100" dirty="0">
                          <a:solidFill>
                            <a:schemeClr val="tx1"/>
                          </a:solidFill>
                          <a:effectLst/>
                          <a:latin typeface="+mj-lt"/>
                          <a:ea typeface="Aptos" panose="020B0004020202020204" pitchFamily="34" charset="0"/>
                          <a:cs typeface="+mn-cs"/>
                        </a:rPr>
                        <a:t>-0.7 – 2.1</a:t>
                      </a:r>
                      <a:r>
                        <a:rPr lang="en-US" sz="1600" kern="100" dirty="0">
                          <a:effectLst/>
                          <a:latin typeface="+mj-lt"/>
                          <a:ea typeface="Aptos" panose="020B0004020202020204" pitchFamily="34" charset="0"/>
                        </a:rPr>
                        <a:t>)</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0.21</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963023"/>
                  </a:ext>
                </a:extLst>
              </a:tr>
              <a:tr h="189230">
                <a:tc>
                  <a:txBody>
                    <a:bodyPr/>
                    <a:lstStyle/>
                    <a:p>
                      <a:pPr marL="0" marR="0">
                        <a:lnSpc>
                          <a:spcPct val="107000"/>
                        </a:lnSpc>
                        <a:spcAft>
                          <a:spcPts val="800"/>
                        </a:spcAft>
                        <a:buNone/>
                      </a:pPr>
                      <a:r>
                        <a:rPr lang="en-US" sz="1600" kern="100" dirty="0">
                          <a:effectLst/>
                          <a:latin typeface="+mj-lt"/>
                          <a:ea typeface="Aptos" panose="020B0004020202020204" pitchFamily="34" charset="0"/>
                        </a:rPr>
                        <a:t>Annual Admissions</a:t>
                      </a:r>
                    </a:p>
                    <a:p>
                      <a:pPr marL="0" marR="0">
                        <a:lnSpc>
                          <a:spcPct val="107000"/>
                        </a:lnSpc>
                        <a:spcAft>
                          <a:spcPts val="800"/>
                        </a:spcAft>
                        <a:buNone/>
                      </a:pPr>
                      <a:r>
                        <a:rPr lang="en-US" sz="1600" kern="100" dirty="0">
                          <a:effectLst/>
                          <a:latin typeface="+mj-lt"/>
                          <a:ea typeface="Aptos" panose="020B0004020202020204" pitchFamily="34" charset="0"/>
                        </a:rPr>
                        <a:t>(per 100)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600" kern="100" dirty="0">
                          <a:effectLst/>
                          <a:latin typeface="+mj-lt"/>
                          <a:ea typeface="Aptos" panose="020B0004020202020204" pitchFamily="34" charset="0"/>
                        </a:rPr>
                        <a:t>-0.5 (</a:t>
                      </a:r>
                      <a:r>
                        <a:rPr lang="en-US" sz="1600" kern="100" dirty="0">
                          <a:solidFill>
                            <a:schemeClr val="tx1"/>
                          </a:solidFill>
                          <a:effectLst/>
                          <a:latin typeface="+mj-lt"/>
                          <a:ea typeface="Aptos" panose="020B0004020202020204" pitchFamily="34" charset="0"/>
                          <a:cs typeface="+mn-cs"/>
                        </a:rPr>
                        <a:t>-4.6 – 3.6</a:t>
                      </a:r>
                      <a:r>
                        <a:rPr lang="en-US" sz="1600" kern="100" dirty="0">
                          <a:effectLst/>
                          <a:latin typeface="+mj-lt"/>
                          <a:ea typeface="Aptos" panose="020B0004020202020204" pitchFamily="34" charset="0"/>
                        </a:rPr>
                        <a:t>)</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0.77</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9198450"/>
                  </a:ext>
                </a:extLst>
              </a:tr>
            </a:tbl>
          </a:graphicData>
        </a:graphic>
      </p:graphicFrame>
      <p:sp>
        <p:nvSpPr>
          <p:cNvPr id="16" name="Rectangle 2">
            <a:extLst>
              <a:ext uri="{FF2B5EF4-FFF2-40B4-BE49-F238E27FC236}">
                <a16:creationId xmlns:a16="http://schemas.microsoft.com/office/drawing/2014/main" id="{06BFBB92-5CB9-71AA-2145-2F2762833878}"/>
              </a:ext>
            </a:extLst>
          </p:cNvPr>
          <p:cNvSpPr>
            <a:spLocks noChangeArrowheads="1"/>
          </p:cNvSpPr>
          <p:nvPr/>
        </p:nvSpPr>
        <p:spPr bwMode="auto">
          <a:xfrm>
            <a:off x="7398784" y="419213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14" name="Picture 13">
            <a:extLst>
              <a:ext uri="{FF2B5EF4-FFF2-40B4-BE49-F238E27FC236}">
                <a16:creationId xmlns:a16="http://schemas.microsoft.com/office/drawing/2014/main" id="{3957CB44-2A5D-6FE9-CB68-E395AAB6EADB}"/>
              </a:ext>
            </a:extLst>
          </p:cNvPr>
          <p:cNvPicPr>
            <a:picLocks noChangeAspect="1"/>
          </p:cNvPicPr>
          <p:nvPr/>
        </p:nvPicPr>
        <p:blipFill>
          <a:blip r:embed="rId3"/>
          <a:stretch>
            <a:fillRect/>
          </a:stretch>
        </p:blipFill>
        <p:spPr>
          <a:xfrm>
            <a:off x="0" y="1557396"/>
            <a:ext cx="7296282" cy="4386204"/>
          </a:xfrm>
          <a:prstGeom prst="rect">
            <a:avLst/>
          </a:prstGeom>
        </p:spPr>
      </p:pic>
    </p:spTree>
    <p:extLst>
      <p:ext uri="{BB962C8B-B14F-4D97-AF65-F5344CB8AC3E}">
        <p14:creationId xmlns:p14="http://schemas.microsoft.com/office/powerpoint/2010/main" val="356817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D81B4-9904-18BC-FCE2-2AD6FDBB0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11FA6-8F8D-BAA5-C0B5-96AD30D1F271}"/>
              </a:ext>
            </a:extLst>
          </p:cNvPr>
          <p:cNvSpPr>
            <a:spLocks noGrp="1"/>
          </p:cNvSpPr>
          <p:nvPr>
            <p:ph type="title"/>
          </p:nvPr>
        </p:nvSpPr>
        <p:spPr>
          <a:xfrm>
            <a:off x="0" y="18255"/>
            <a:ext cx="12192000" cy="1325563"/>
          </a:xfrm>
        </p:spPr>
        <p:txBody>
          <a:bodyPr/>
          <a:lstStyle/>
          <a:p>
            <a:r>
              <a:rPr lang="en-US" dirty="0"/>
              <a:t>Making the model</a:t>
            </a:r>
          </a:p>
        </p:txBody>
      </p:sp>
      <p:sp>
        <p:nvSpPr>
          <p:cNvPr id="11" name="Rectangle 3">
            <a:extLst>
              <a:ext uri="{FF2B5EF4-FFF2-40B4-BE49-F238E27FC236}">
                <a16:creationId xmlns:a16="http://schemas.microsoft.com/office/drawing/2014/main" id="{A5016437-6653-3B52-DBA9-0A737AF59B27}"/>
              </a:ext>
            </a:extLst>
          </p:cNvPr>
          <p:cNvSpPr>
            <a:spLocks noChangeArrowheads="1"/>
          </p:cNvSpPr>
          <p:nvPr/>
        </p:nvSpPr>
        <p:spPr bwMode="auto">
          <a:xfrm>
            <a:off x="1207654" y="352064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5">
            <a:extLst>
              <a:ext uri="{FF2B5EF4-FFF2-40B4-BE49-F238E27FC236}">
                <a16:creationId xmlns:a16="http://schemas.microsoft.com/office/drawing/2014/main" id="{704B7784-AE90-08B8-0374-38B4EC7FBA8D}"/>
              </a:ext>
            </a:extLst>
          </p:cNvPr>
          <p:cNvSpPr>
            <a:spLocks noChangeArrowheads="1"/>
          </p:cNvSpPr>
          <p:nvPr/>
        </p:nvSpPr>
        <p:spPr bwMode="auto">
          <a:xfrm>
            <a:off x="1207654" y="353377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a:extLst>
              <a:ext uri="{FF2B5EF4-FFF2-40B4-BE49-F238E27FC236}">
                <a16:creationId xmlns:a16="http://schemas.microsoft.com/office/drawing/2014/main" id="{DFDEA653-A745-C1B7-55BD-A0022C667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4155" y="1533228"/>
            <a:ext cx="7403690" cy="4736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816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5FA73-3B53-510E-1924-19E48E76B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462F0-A59A-6C9C-AC11-4865E7C95D89}"/>
              </a:ext>
            </a:extLst>
          </p:cNvPr>
          <p:cNvSpPr>
            <a:spLocks noGrp="1"/>
          </p:cNvSpPr>
          <p:nvPr>
            <p:ph type="title"/>
          </p:nvPr>
        </p:nvSpPr>
        <p:spPr>
          <a:xfrm>
            <a:off x="0" y="18255"/>
            <a:ext cx="12192000" cy="1325563"/>
          </a:xfrm>
        </p:spPr>
        <p:txBody>
          <a:bodyPr/>
          <a:lstStyle/>
          <a:p>
            <a:r>
              <a:rPr lang="en-US" dirty="0"/>
              <a:t>Patient level factors that influence ECMO Utilization</a:t>
            </a:r>
          </a:p>
        </p:txBody>
      </p:sp>
      <p:sp>
        <p:nvSpPr>
          <p:cNvPr id="4" name="TextBox 3">
            <a:extLst>
              <a:ext uri="{FF2B5EF4-FFF2-40B4-BE49-F238E27FC236}">
                <a16:creationId xmlns:a16="http://schemas.microsoft.com/office/drawing/2014/main" id="{4A8C4F67-FBB2-2F46-1C25-74B99E52255D}"/>
              </a:ext>
            </a:extLst>
          </p:cNvPr>
          <p:cNvSpPr txBox="1"/>
          <p:nvPr/>
        </p:nvSpPr>
        <p:spPr>
          <a:xfrm>
            <a:off x="10365424" y="6488668"/>
            <a:ext cx="2238211" cy="369332"/>
          </a:xfrm>
          <a:prstGeom prst="rect">
            <a:avLst/>
          </a:prstGeom>
          <a:noFill/>
        </p:spPr>
        <p:txBody>
          <a:bodyPr wrap="square">
            <a:spAutoFit/>
          </a:bodyPr>
          <a:lstStyle/>
          <a:p>
            <a:r>
              <a:rPr lang="en-US" b="1" dirty="0">
                <a:solidFill>
                  <a:srgbClr val="FF0000"/>
                </a:solidFill>
              </a:rPr>
              <a:t>Unpublished Data</a:t>
            </a:r>
          </a:p>
        </p:txBody>
      </p:sp>
      <p:graphicFrame>
        <p:nvGraphicFramePr>
          <p:cNvPr id="5" name="Table 4">
            <a:extLst>
              <a:ext uri="{FF2B5EF4-FFF2-40B4-BE49-F238E27FC236}">
                <a16:creationId xmlns:a16="http://schemas.microsoft.com/office/drawing/2014/main" id="{1BFD2F47-55CD-DA00-EF59-AA3B56720285}"/>
              </a:ext>
            </a:extLst>
          </p:cNvPr>
          <p:cNvGraphicFramePr>
            <a:graphicFrameLocks noGrp="1"/>
          </p:cNvGraphicFramePr>
          <p:nvPr>
            <p:extLst>
              <p:ext uri="{D42A27DB-BD31-4B8C-83A1-F6EECF244321}">
                <p14:modId xmlns:p14="http://schemas.microsoft.com/office/powerpoint/2010/main" val="781543060"/>
              </p:ext>
            </p:extLst>
          </p:nvPr>
        </p:nvGraphicFramePr>
        <p:xfrm>
          <a:off x="2058555" y="3243068"/>
          <a:ext cx="8074890" cy="1495806"/>
        </p:xfrm>
        <a:graphic>
          <a:graphicData uri="http://schemas.openxmlformats.org/drawingml/2006/table">
            <a:tbl>
              <a:tblPr firstRow="1" firstCol="1" bandRow="1"/>
              <a:tblGrid>
                <a:gridCol w="2691630">
                  <a:extLst>
                    <a:ext uri="{9D8B030D-6E8A-4147-A177-3AD203B41FA5}">
                      <a16:colId xmlns:a16="http://schemas.microsoft.com/office/drawing/2014/main" val="4171853776"/>
                    </a:ext>
                  </a:extLst>
                </a:gridCol>
                <a:gridCol w="2691630">
                  <a:extLst>
                    <a:ext uri="{9D8B030D-6E8A-4147-A177-3AD203B41FA5}">
                      <a16:colId xmlns:a16="http://schemas.microsoft.com/office/drawing/2014/main" val="3935830193"/>
                    </a:ext>
                  </a:extLst>
                </a:gridCol>
                <a:gridCol w="2691630">
                  <a:extLst>
                    <a:ext uri="{9D8B030D-6E8A-4147-A177-3AD203B41FA5}">
                      <a16:colId xmlns:a16="http://schemas.microsoft.com/office/drawing/2014/main" val="202794634"/>
                    </a:ext>
                  </a:extLst>
                </a:gridCol>
              </a:tblGrid>
              <a:tr h="216689">
                <a:tc>
                  <a:txBody>
                    <a:bodyPr/>
                    <a:lstStyle/>
                    <a:p>
                      <a:pPr marL="0" marR="0">
                        <a:lnSpc>
                          <a:spcPct val="107000"/>
                        </a:lnSpc>
                        <a:spcAft>
                          <a:spcPts val="800"/>
                        </a:spcAft>
                        <a:buNone/>
                      </a:pPr>
                      <a:r>
                        <a:rPr lang="en-US" sz="1600" b="1" kern="100" dirty="0">
                          <a:effectLst/>
                          <a:latin typeface="Calibri Light" panose="020F0302020204030204" pitchFamily="34" charset="0"/>
                          <a:ea typeface="Aptos" panose="020B0004020202020204" pitchFamily="34" charset="0"/>
                        </a:rPr>
                        <a:t>Variable</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b="1" kern="100" dirty="0">
                          <a:effectLst/>
                          <a:latin typeface="Calibri Light" panose="020F0302020204030204" pitchFamily="34" charset="0"/>
                          <a:ea typeface="Aptos" panose="020B0004020202020204" pitchFamily="34" charset="0"/>
                        </a:rPr>
                        <a:t>Probability % (95% CI)</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b="1" kern="100" dirty="0">
                          <a:effectLst/>
                          <a:latin typeface="Calibri Light" panose="020F0302020204030204" pitchFamily="34" charset="0"/>
                          <a:ea typeface="Aptos" panose="020B0004020202020204" pitchFamily="34" charset="0"/>
                        </a:rPr>
                        <a:t>p-value</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3389641"/>
                  </a:ext>
                </a:extLst>
              </a:tr>
              <a:tr h="216689">
                <a:tc>
                  <a:txBody>
                    <a:bodyPr/>
                    <a:lstStyle/>
                    <a:p>
                      <a:pPr marL="0" marR="0">
                        <a:lnSpc>
                          <a:spcPct val="107000"/>
                        </a:lnSpc>
                        <a:spcAft>
                          <a:spcPts val="800"/>
                        </a:spcAft>
                        <a:buNone/>
                      </a:pPr>
                      <a:r>
                        <a:rPr lang="en-US" sz="1600" kern="100">
                          <a:effectLst/>
                          <a:latin typeface="Calibri Light" panose="020F0302020204030204" pitchFamily="34" charset="0"/>
                          <a:ea typeface="Aptos" panose="020B0004020202020204" pitchFamily="34" charset="0"/>
                        </a:rPr>
                        <a:t>High-Risk Group</a:t>
                      </a:r>
                      <a:endParaRPr lang="en-US" sz="1000" kern="10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a:effectLst/>
                          <a:latin typeface="Calibri Light" panose="020F0302020204030204" pitchFamily="34" charset="0"/>
                          <a:ea typeface="Aptos" panose="020B0004020202020204" pitchFamily="34" charset="0"/>
                        </a:rPr>
                        <a:t> </a:t>
                      </a:r>
                      <a:endParaRPr lang="en-US" sz="1000" kern="10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kern="100">
                          <a:effectLst/>
                          <a:latin typeface="Calibri Light" panose="020F0302020204030204" pitchFamily="34" charset="0"/>
                          <a:ea typeface="Aptos" panose="020B0004020202020204" pitchFamily="34" charset="0"/>
                        </a:rPr>
                        <a:t> </a:t>
                      </a:r>
                      <a:endParaRPr lang="en-US" sz="1000" kern="10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1059850"/>
                  </a:ext>
                </a:extLst>
              </a:tr>
              <a:tr h="216689">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Trisomy 13/18</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0.31 (0.19 – 0.50)</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0.001</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7150624"/>
                  </a:ext>
                </a:extLst>
              </a:tr>
              <a:tr h="216689">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Trauma</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1.51 (1.42 – 1.60)</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&lt;0.001</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6965100"/>
                  </a:ext>
                </a:extLst>
              </a:tr>
              <a:tr h="216689">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Oncologic/HSCT</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0.25 (0.20 – 0.30)</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r" defTabSz="914400" rtl="0" eaLnBrk="1" fontAlgn="auto" latinLnBrk="0" hangingPunct="1">
                        <a:lnSpc>
                          <a:spcPct val="107000"/>
                        </a:lnSpc>
                        <a:spcBef>
                          <a:spcPts val="0"/>
                        </a:spcBef>
                        <a:spcAft>
                          <a:spcPts val="800"/>
                        </a:spcAft>
                        <a:buClrTx/>
                        <a:buSzTx/>
                        <a:buFontTx/>
                        <a:buNone/>
                        <a:tabLst/>
                        <a:defRPr/>
                      </a:pPr>
                      <a:r>
                        <a:rPr lang="en-US" sz="1600" kern="100" dirty="0">
                          <a:effectLst/>
                          <a:latin typeface="Calibri Light" panose="020F0302020204030204" pitchFamily="34" charset="0"/>
                          <a:ea typeface="Aptos" panose="020B0004020202020204" pitchFamily="34" charset="0"/>
                        </a:rPr>
                        <a:t>&lt;0.001</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6523977"/>
                  </a:ext>
                </a:extLst>
              </a:tr>
              <a:tr h="216689">
                <a:tc>
                  <a:txBody>
                    <a:bodyPr/>
                    <a:lstStyle/>
                    <a:p>
                      <a:pPr marL="0" marR="0">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Baseline</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0.70 (0.57 – 0.86)</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r" defTabSz="914400" rtl="0" eaLnBrk="1" fontAlgn="auto" latinLnBrk="0" hangingPunct="1">
                        <a:lnSpc>
                          <a:spcPct val="107000"/>
                        </a:lnSpc>
                        <a:spcBef>
                          <a:spcPts val="0"/>
                        </a:spcBef>
                        <a:spcAft>
                          <a:spcPts val="800"/>
                        </a:spcAft>
                        <a:buClrTx/>
                        <a:buSzTx/>
                        <a:buFontTx/>
                        <a:buNone/>
                        <a:tabLst/>
                        <a:defRPr/>
                      </a:pPr>
                      <a:r>
                        <a:rPr lang="en-US" sz="1600" kern="100" dirty="0">
                          <a:effectLst/>
                          <a:latin typeface="Calibri Light" panose="020F0302020204030204" pitchFamily="34" charset="0"/>
                          <a:ea typeface="Aptos" panose="020B0004020202020204" pitchFamily="34" charset="0"/>
                        </a:rPr>
                        <a:t>&lt;0.001</a:t>
                      </a:r>
                      <a:endParaRPr lang="en-US" sz="10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0760346"/>
                  </a:ext>
                </a:extLst>
              </a:tr>
            </a:tbl>
          </a:graphicData>
        </a:graphic>
      </p:graphicFrame>
      <p:sp>
        <p:nvSpPr>
          <p:cNvPr id="11" name="Rectangle 3">
            <a:extLst>
              <a:ext uri="{FF2B5EF4-FFF2-40B4-BE49-F238E27FC236}">
                <a16:creationId xmlns:a16="http://schemas.microsoft.com/office/drawing/2014/main" id="{EA493B63-2921-8312-D8C3-DFB82FC2DA3B}"/>
              </a:ext>
            </a:extLst>
          </p:cNvPr>
          <p:cNvSpPr>
            <a:spLocks noChangeArrowheads="1"/>
          </p:cNvSpPr>
          <p:nvPr/>
        </p:nvSpPr>
        <p:spPr bwMode="auto">
          <a:xfrm>
            <a:off x="1207654" y="352064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5">
            <a:extLst>
              <a:ext uri="{FF2B5EF4-FFF2-40B4-BE49-F238E27FC236}">
                <a16:creationId xmlns:a16="http://schemas.microsoft.com/office/drawing/2014/main" id="{838675A0-28BC-4DD8-19FE-A1BFAF44F51F}"/>
              </a:ext>
            </a:extLst>
          </p:cNvPr>
          <p:cNvSpPr>
            <a:spLocks noChangeArrowheads="1"/>
          </p:cNvSpPr>
          <p:nvPr/>
        </p:nvSpPr>
        <p:spPr bwMode="auto">
          <a:xfrm>
            <a:off x="1207654" y="353377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55C46620-6AD8-E61F-0D4D-D24AB93EB4E9}"/>
              </a:ext>
            </a:extLst>
          </p:cNvPr>
          <p:cNvSpPr txBox="1"/>
          <p:nvPr/>
        </p:nvSpPr>
        <p:spPr>
          <a:xfrm>
            <a:off x="1987825" y="5039139"/>
            <a:ext cx="8145619" cy="338554"/>
          </a:xfrm>
          <a:prstGeom prst="rect">
            <a:avLst/>
          </a:prstGeom>
          <a:noFill/>
        </p:spPr>
        <p:txBody>
          <a:bodyPr wrap="square" rtlCol="0">
            <a:spAutoFit/>
          </a:bodyPr>
          <a:lstStyle/>
          <a:p>
            <a:pPr algn="ctr"/>
            <a:r>
              <a:rPr lang="en-US" sz="1600" dirty="0">
                <a:latin typeface="+mj-lt"/>
              </a:rPr>
              <a:t>Other Patient Level Factors Included: Ethnicity, Gender, Patient Age, Year of ECMO</a:t>
            </a:r>
          </a:p>
        </p:txBody>
      </p:sp>
    </p:spTree>
    <p:extLst>
      <p:ext uri="{BB962C8B-B14F-4D97-AF65-F5344CB8AC3E}">
        <p14:creationId xmlns:p14="http://schemas.microsoft.com/office/powerpoint/2010/main" val="631882524"/>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446FF-94D0-3AD0-ABA5-A07565AAEB8F}"/>
            </a:ext>
          </a:extLst>
        </p:cNvPr>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4D5E70D3-EA96-3D29-D5E0-87E27B766D57}"/>
              </a:ext>
            </a:extLst>
          </p:cNvPr>
          <p:cNvGraphicFramePr>
            <a:graphicFrameLocks noGrp="1"/>
          </p:cNvGraphicFramePr>
          <p:nvPr>
            <p:extLst>
              <p:ext uri="{D42A27DB-BD31-4B8C-83A1-F6EECF244321}">
                <p14:modId xmlns:p14="http://schemas.microsoft.com/office/powerpoint/2010/main" val="3033441843"/>
              </p:ext>
            </p:extLst>
          </p:nvPr>
        </p:nvGraphicFramePr>
        <p:xfrm>
          <a:off x="838200" y="3229939"/>
          <a:ext cx="10515600" cy="1495806"/>
        </p:xfrm>
        <a:graphic>
          <a:graphicData uri="http://schemas.openxmlformats.org/drawingml/2006/table">
            <a:tbl>
              <a:tblPr firstRow="1" firstCol="1" bandRow="1"/>
              <a:tblGrid>
                <a:gridCol w="3505200">
                  <a:extLst>
                    <a:ext uri="{9D8B030D-6E8A-4147-A177-3AD203B41FA5}">
                      <a16:colId xmlns:a16="http://schemas.microsoft.com/office/drawing/2014/main" val="549675020"/>
                    </a:ext>
                  </a:extLst>
                </a:gridCol>
                <a:gridCol w="3505200">
                  <a:extLst>
                    <a:ext uri="{9D8B030D-6E8A-4147-A177-3AD203B41FA5}">
                      <a16:colId xmlns:a16="http://schemas.microsoft.com/office/drawing/2014/main" val="580414024"/>
                    </a:ext>
                  </a:extLst>
                </a:gridCol>
                <a:gridCol w="3505200">
                  <a:extLst>
                    <a:ext uri="{9D8B030D-6E8A-4147-A177-3AD203B41FA5}">
                      <a16:colId xmlns:a16="http://schemas.microsoft.com/office/drawing/2014/main" val="268804123"/>
                    </a:ext>
                  </a:extLst>
                </a:gridCol>
              </a:tblGrid>
              <a:tr h="0">
                <a:tc>
                  <a:txBody>
                    <a:bodyPr/>
                    <a:lstStyle/>
                    <a:p>
                      <a:pPr marL="0" marR="0">
                        <a:lnSpc>
                          <a:spcPct val="107000"/>
                        </a:lnSpc>
                        <a:spcAft>
                          <a:spcPts val="800"/>
                        </a:spcAft>
                        <a:buNone/>
                      </a:pPr>
                      <a:r>
                        <a:rPr lang="en-US" sz="1600" b="1" kern="100" dirty="0">
                          <a:effectLst/>
                          <a:latin typeface="Calibri Light" panose="020F0302020204030204" pitchFamily="34" charset="0"/>
                          <a:ea typeface="Aptos" panose="020B0004020202020204" pitchFamily="34" charset="0"/>
                        </a:rPr>
                        <a:t>ECMO Cases (2016 - 2024)</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b="1" kern="100" dirty="0">
                          <a:effectLst/>
                          <a:latin typeface="Calibri Light" panose="020F0302020204030204" pitchFamily="34" charset="0"/>
                          <a:ea typeface="Aptos" panose="020B0004020202020204" pitchFamily="34" charset="0"/>
                        </a:rPr>
                        <a:t>Probability % (95% CI)</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b="1" kern="100">
                          <a:effectLst/>
                          <a:latin typeface="Calibri Light" panose="020F0302020204030204" pitchFamily="34" charset="0"/>
                          <a:ea typeface="Aptos" panose="020B0004020202020204" pitchFamily="34" charset="0"/>
                        </a:rPr>
                        <a:t>p-value</a:t>
                      </a:r>
                      <a:endParaRPr lang="en-US" sz="1600" kern="10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8969229"/>
                  </a:ext>
                </a:extLst>
              </a:tr>
              <a:tr h="0">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200</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0.8  (0.8 – 0.9)</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&lt;0.001</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0482660"/>
                  </a:ext>
                </a:extLst>
              </a:tr>
              <a:tr h="0">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400</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2.5 (2.1 – 2.9)</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&lt;0.001</a:t>
                      </a:r>
                      <a:endParaRPr lang="en-US" sz="1600"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1212307"/>
                  </a:ext>
                </a:extLst>
              </a:tr>
              <a:tr h="0">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600</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7.0 (4.9 – 9.2)</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&lt;0.001</a:t>
                      </a:r>
                      <a:endParaRPr lang="en-US" sz="1600"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180270"/>
                  </a:ext>
                </a:extLst>
              </a:tr>
              <a:tr h="0">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800</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17.9 (10.1 – 25.0)</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&lt;0.001</a:t>
                      </a:r>
                      <a:endParaRPr lang="en-US" sz="1600"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3176782"/>
                  </a:ext>
                </a:extLst>
              </a:tr>
              <a:tr h="0">
                <a:tc>
                  <a:txBody>
                    <a:bodyPr/>
                    <a:lstStyle/>
                    <a:p>
                      <a:pPr marL="0" marR="0" algn="r">
                        <a:lnSpc>
                          <a:spcPct val="107000"/>
                        </a:lnSpc>
                        <a:spcAft>
                          <a:spcPts val="800"/>
                        </a:spcAft>
                        <a:buNone/>
                      </a:pPr>
                      <a:r>
                        <a:rPr lang="en-US" sz="1600" kern="100">
                          <a:effectLst/>
                          <a:latin typeface="Calibri Light" panose="020F0302020204030204" pitchFamily="34" charset="0"/>
                          <a:ea typeface="Aptos" panose="020B0004020202020204" pitchFamily="34" charset="0"/>
                        </a:rPr>
                        <a:t>1,000</a:t>
                      </a:r>
                      <a:endParaRPr lang="en-US" sz="1600" kern="10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37.7 (23.6 – 51.8)</a:t>
                      </a:r>
                      <a:endParaRPr lang="en-US" sz="1600" kern="100" dirty="0">
                        <a:effectLst/>
                        <a:latin typeface="Calibri" panose="020F0502020204030204" pitchFamily="34" charset="0"/>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Calibri Light" panose="020F0302020204030204" pitchFamily="34" charset="0"/>
                          <a:ea typeface="Aptos" panose="020B0004020202020204" pitchFamily="34" charset="0"/>
                        </a:rPr>
                        <a:t>&lt;0.001</a:t>
                      </a:r>
                      <a:endParaRPr lang="en-US" sz="1600"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8266779"/>
                  </a:ext>
                </a:extLst>
              </a:tr>
            </a:tbl>
          </a:graphicData>
        </a:graphic>
      </p:graphicFrame>
      <p:sp>
        <p:nvSpPr>
          <p:cNvPr id="2" name="Title 1">
            <a:extLst>
              <a:ext uri="{FF2B5EF4-FFF2-40B4-BE49-F238E27FC236}">
                <a16:creationId xmlns:a16="http://schemas.microsoft.com/office/drawing/2014/main" id="{D52A6A50-BC3E-0010-D63F-B4AD9D6BFD9F}"/>
              </a:ext>
            </a:extLst>
          </p:cNvPr>
          <p:cNvSpPr>
            <a:spLocks noGrp="1"/>
          </p:cNvSpPr>
          <p:nvPr>
            <p:ph type="title"/>
          </p:nvPr>
        </p:nvSpPr>
        <p:spPr>
          <a:xfrm>
            <a:off x="0" y="18255"/>
            <a:ext cx="12192000" cy="1325563"/>
          </a:xfrm>
        </p:spPr>
        <p:txBody>
          <a:bodyPr/>
          <a:lstStyle/>
          <a:p>
            <a:r>
              <a:rPr lang="en-US" dirty="0"/>
              <a:t>Effect of Hospital Level ECMO on ECMO Utilization</a:t>
            </a:r>
          </a:p>
        </p:txBody>
      </p:sp>
      <p:sp>
        <p:nvSpPr>
          <p:cNvPr id="4" name="TextBox 3">
            <a:extLst>
              <a:ext uri="{FF2B5EF4-FFF2-40B4-BE49-F238E27FC236}">
                <a16:creationId xmlns:a16="http://schemas.microsoft.com/office/drawing/2014/main" id="{0DFEBCF1-1CA9-F038-E0E6-659570EEBE1E}"/>
              </a:ext>
            </a:extLst>
          </p:cNvPr>
          <p:cNvSpPr txBox="1"/>
          <p:nvPr/>
        </p:nvSpPr>
        <p:spPr>
          <a:xfrm>
            <a:off x="10365424" y="6488668"/>
            <a:ext cx="2238211" cy="369332"/>
          </a:xfrm>
          <a:prstGeom prst="rect">
            <a:avLst/>
          </a:prstGeom>
          <a:noFill/>
        </p:spPr>
        <p:txBody>
          <a:bodyPr wrap="square">
            <a:spAutoFit/>
          </a:bodyPr>
          <a:lstStyle/>
          <a:p>
            <a:r>
              <a:rPr lang="en-US" b="1" dirty="0">
                <a:solidFill>
                  <a:srgbClr val="FF0000"/>
                </a:solidFill>
              </a:rPr>
              <a:t>Unpublished Data</a:t>
            </a:r>
          </a:p>
        </p:txBody>
      </p:sp>
      <p:sp>
        <p:nvSpPr>
          <p:cNvPr id="11" name="Rectangle 3">
            <a:extLst>
              <a:ext uri="{FF2B5EF4-FFF2-40B4-BE49-F238E27FC236}">
                <a16:creationId xmlns:a16="http://schemas.microsoft.com/office/drawing/2014/main" id="{CAEE1993-3949-5025-B3C7-598744C9A3E4}"/>
              </a:ext>
            </a:extLst>
          </p:cNvPr>
          <p:cNvSpPr>
            <a:spLocks noChangeArrowheads="1"/>
          </p:cNvSpPr>
          <p:nvPr/>
        </p:nvSpPr>
        <p:spPr bwMode="auto">
          <a:xfrm>
            <a:off x="1207654" y="352064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5">
            <a:extLst>
              <a:ext uri="{FF2B5EF4-FFF2-40B4-BE49-F238E27FC236}">
                <a16:creationId xmlns:a16="http://schemas.microsoft.com/office/drawing/2014/main" id="{3E74D97F-3187-A353-134E-197E9F994496}"/>
              </a:ext>
            </a:extLst>
          </p:cNvPr>
          <p:cNvSpPr>
            <a:spLocks noChangeArrowheads="1"/>
          </p:cNvSpPr>
          <p:nvPr/>
        </p:nvSpPr>
        <p:spPr bwMode="auto">
          <a:xfrm>
            <a:off x="1207654" y="353377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64809346-5496-A382-0AD0-C05F545F891C}"/>
              </a:ext>
            </a:extLst>
          </p:cNvPr>
          <p:cNvSpPr txBox="1"/>
          <p:nvPr/>
        </p:nvSpPr>
        <p:spPr>
          <a:xfrm>
            <a:off x="1553817" y="5070542"/>
            <a:ext cx="9084365" cy="338554"/>
          </a:xfrm>
          <a:prstGeom prst="rect">
            <a:avLst/>
          </a:prstGeom>
          <a:noFill/>
        </p:spPr>
        <p:txBody>
          <a:bodyPr wrap="square" rtlCol="0">
            <a:spAutoFit/>
          </a:bodyPr>
          <a:lstStyle/>
          <a:p>
            <a:pPr algn="ctr"/>
            <a:r>
              <a:rPr lang="en-US" sz="1600" dirty="0">
                <a:latin typeface="+mj-lt"/>
              </a:rPr>
              <a:t>Interpretation: For every 200 ECMO Cases, the relative increase in probability of ECMO is ~250%</a:t>
            </a:r>
          </a:p>
        </p:txBody>
      </p:sp>
    </p:spTree>
    <p:extLst>
      <p:ext uri="{BB962C8B-B14F-4D97-AF65-F5344CB8AC3E}">
        <p14:creationId xmlns:p14="http://schemas.microsoft.com/office/powerpoint/2010/main" val="3426787817"/>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4B53F-F9C3-E0A6-E3DD-4CA63DB789A5}"/>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4FB3AB7F-0FBB-F032-F214-80A9800FF83A}"/>
              </a:ext>
            </a:extLst>
          </p:cNvPr>
          <p:cNvGraphicFramePr>
            <a:graphicFrameLocks noGrp="1"/>
          </p:cNvGraphicFramePr>
          <p:nvPr>
            <p:extLst>
              <p:ext uri="{D42A27DB-BD31-4B8C-83A1-F6EECF244321}">
                <p14:modId xmlns:p14="http://schemas.microsoft.com/office/powerpoint/2010/main" val="3936806407"/>
              </p:ext>
            </p:extLst>
          </p:nvPr>
        </p:nvGraphicFramePr>
        <p:xfrm>
          <a:off x="858078" y="3243068"/>
          <a:ext cx="10515600" cy="1495806"/>
        </p:xfrm>
        <a:graphic>
          <a:graphicData uri="http://schemas.openxmlformats.org/drawingml/2006/table">
            <a:tbl>
              <a:tblPr firstRow="1" firstCol="1" bandRow="1"/>
              <a:tblGrid>
                <a:gridCol w="3505200">
                  <a:extLst>
                    <a:ext uri="{9D8B030D-6E8A-4147-A177-3AD203B41FA5}">
                      <a16:colId xmlns:a16="http://schemas.microsoft.com/office/drawing/2014/main" val="3841831110"/>
                    </a:ext>
                  </a:extLst>
                </a:gridCol>
                <a:gridCol w="3505200">
                  <a:extLst>
                    <a:ext uri="{9D8B030D-6E8A-4147-A177-3AD203B41FA5}">
                      <a16:colId xmlns:a16="http://schemas.microsoft.com/office/drawing/2014/main" val="263919060"/>
                    </a:ext>
                  </a:extLst>
                </a:gridCol>
                <a:gridCol w="3505200">
                  <a:extLst>
                    <a:ext uri="{9D8B030D-6E8A-4147-A177-3AD203B41FA5}">
                      <a16:colId xmlns:a16="http://schemas.microsoft.com/office/drawing/2014/main" val="4188591359"/>
                    </a:ext>
                  </a:extLst>
                </a:gridCol>
              </a:tblGrid>
              <a:tr h="0">
                <a:tc>
                  <a:txBody>
                    <a:bodyPr/>
                    <a:lstStyle/>
                    <a:p>
                      <a:pPr marL="0" marR="0">
                        <a:lnSpc>
                          <a:spcPct val="107000"/>
                        </a:lnSpc>
                        <a:spcAft>
                          <a:spcPts val="800"/>
                        </a:spcAft>
                        <a:buNone/>
                      </a:pPr>
                      <a:r>
                        <a:rPr lang="en-US" sz="1600" b="1" dirty="0">
                          <a:latin typeface="+mj-lt"/>
                        </a:rPr>
                        <a:t>PICU Admissions (2016 - 2024)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600" b="1" kern="100" dirty="0">
                          <a:effectLst/>
                          <a:latin typeface="+mj-lt"/>
                          <a:ea typeface="Aptos" panose="020B0004020202020204" pitchFamily="34" charset="0"/>
                        </a:rPr>
                        <a:t>Probability % (95% CI)</a:t>
                      </a:r>
                      <a:endParaRPr lang="en-US" sz="1600" kern="100" dirty="0">
                        <a:effectLst/>
                        <a:latin typeface="+mj-lt"/>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b="1" kern="100" dirty="0">
                          <a:effectLst/>
                          <a:latin typeface="+mj-lt"/>
                          <a:ea typeface="Aptos" panose="020B0004020202020204" pitchFamily="34" charset="0"/>
                        </a:rPr>
                        <a:t>p-value</a:t>
                      </a:r>
                      <a:endParaRPr lang="en-US" sz="1600" kern="100" dirty="0">
                        <a:effectLst/>
                        <a:latin typeface="+mj-lt"/>
                        <a:ea typeface="Aptos" panose="020B00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5756446"/>
                  </a:ext>
                </a:extLst>
              </a:tr>
              <a:tr h="0">
                <a:tc>
                  <a:txBody>
                    <a:bodyPr/>
                    <a:lstStyle/>
                    <a:p>
                      <a:pPr marL="0" marR="0" algn="r">
                        <a:lnSpc>
                          <a:spcPct val="107000"/>
                        </a:lnSpc>
                        <a:spcAft>
                          <a:spcPts val="800"/>
                        </a:spcAft>
                        <a:buNone/>
                      </a:pPr>
                      <a:r>
                        <a:rPr lang="en-US" sz="1600" kern="100" dirty="0">
                          <a:effectLst/>
                          <a:latin typeface="+mj-lt"/>
                          <a:ea typeface="Aptos" panose="020B0004020202020204" pitchFamily="34" charset="0"/>
                        </a:rPr>
                        <a:t>10,000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2.8 (1.6 – 4.1)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0.001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626225"/>
                  </a:ext>
                </a:extLst>
              </a:tr>
              <a:tr h="0">
                <a:tc>
                  <a:txBody>
                    <a:bodyPr/>
                    <a:lstStyle/>
                    <a:p>
                      <a:pPr marL="0" marR="0" algn="r">
                        <a:lnSpc>
                          <a:spcPct val="107000"/>
                        </a:lnSpc>
                        <a:spcAft>
                          <a:spcPts val="800"/>
                        </a:spcAft>
                        <a:buNone/>
                      </a:pPr>
                      <a:r>
                        <a:rPr lang="en-US" sz="1600" kern="100" dirty="0">
                          <a:effectLst/>
                          <a:latin typeface="+mj-lt"/>
                          <a:ea typeface="Aptos" panose="020B0004020202020204" pitchFamily="34" charset="0"/>
                        </a:rPr>
                        <a:t>15,000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2.2 (1.4 – 2.9)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0.001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732857"/>
                  </a:ext>
                </a:extLst>
              </a:tr>
              <a:tr h="0">
                <a:tc>
                  <a:txBody>
                    <a:bodyPr/>
                    <a:lstStyle/>
                    <a:p>
                      <a:pPr marL="0" marR="0" algn="r">
                        <a:lnSpc>
                          <a:spcPct val="107000"/>
                        </a:lnSpc>
                        <a:spcAft>
                          <a:spcPts val="800"/>
                        </a:spcAft>
                        <a:buNone/>
                      </a:pPr>
                      <a:r>
                        <a:rPr lang="en-US" sz="1600" kern="100" dirty="0">
                          <a:effectLst/>
                          <a:latin typeface="+mj-lt"/>
                          <a:ea typeface="Aptos" panose="020B0004020202020204" pitchFamily="34" charset="0"/>
                        </a:rPr>
                        <a:t>20,000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r" defTabSz="914400" rtl="0" eaLnBrk="1" fontAlgn="auto" latinLnBrk="0" hangingPunct="1">
                        <a:lnSpc>
                          <a:spcPct val="107000"/>
                        </a:lnSpc>
                        <a:spcBef>
                          <a:spcPts val="0"/>
                        </a:spcBef>
                        <a:spcAft>
                          <a:spcPts val="800"/>
                        </a:spcAft>
                        <a:buClrTx/>
                        <a:buSzTx/>
                        <a:buFontTx/>
                        <a:buNone/>
                        <a:tabLst/>
                        <a:defRPr/>
                      </a:pPr>
                      <a:r>
                        <a:rPr lang="en-US" sz="1600" b="0" kern="100" dirty="0">
                          <a:solidFill>
                            <a:schemeClr val="tx1"/>
                          </a:solidFill>
                          <a:effectLst/>
                          <a:latin typeface="+mj-lt"/>
                          <a:ea typeface="Aptos" panose="020B0004020202020204" pitchFamily="34" charset="0"/>
                          <a:cs typeface="+mn-cs"/>
                        </a:rPr>
                        <a:t>1.7 (1.2 – 2.1)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r" defTabSz="914400" rtl="0" eaLnBrk="1" fontAlgn="auto" latinLnBrk="0" hangingPunct="1">
                        <a:lnSpc>
                          <a:spcPct val="107000"/>
                        </a:lnSpc>
                        <a:spcBef>
                          <a:spcPts val="0"/>
                        </a:spcBef>
                        <a:spcAft>
                          <a:spcPts val="800"/>
                        </a:spcAft>
                        <a:buClrTx/>
                        <a:buSzTx/>
                        <a:buFontTx/>
                        <a:buNone/>
                        <a:tabLst/>
                        <a:defRPr/>
                      </a:pPr>
                      <a:r>
                        <a:rPr lang="en-US" sz="1600" kern="100" dirty="0">
                          <a:effectLst/>
                          <a:latin typeface="+mj-lt"/>
                          <a:ea typeface="Aptos" panose="020B0004020202020204" pitchFamily="34" charset="0"/>
                        </a:rPr>
                        <a:t>&lt;</a:t>
                      </a:r>
                      <a:r>
                        <a:rPr kumimoji="0" lang="en-US" sz="1600" b="0" i="0" u="none" strike="noStrike" kern="100" cap="none" spc="0" normalizeH="0" baseline="0" noProof="0" dirty="0">
                          <a:ln>
                            <a:noFill/>
                          </a:ln>
                          <a:solidFill>
                            <a:prstClr val="black"/>
                          </a:solidFill>
                          <a:effectLst/>
                          <a:uLnTx/>
                          <a:uFillTx/>
                          <a:latin typeface="Calibri Light"/>
                          <a:ea typeface="Aptos" panose="020B0004020202020204" pitchFamily="34" charset="0"/>
                          <a:cs typeface="+mn-cs"/>
                        </a:rPr>
                        <a:t>0.001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6064723"/>
                  </a:ext>
                </a:extLst>
              </a:tr>
              <a:tr h="0">
                <a:tc>
                  <a:txBody>
                    <a:bodyPr/>
                    <a:lstStyle/>
                    <a:p>
                      <a:pPr marL="0" marR="0" algn="r">
                        <a:lnSpc>
                          <a:spcPct val="107000"/>
                        </a:lnSpc>
                        <a:spcAft>
                          <a:spcPts val="800"/>
                        </a:spcAft>
                        <a:buNone/>
                      </a:pPr>
                      <a:r>
                        <a:rPr lang="en-US" sz="1600" kern="100" dirty="0">
                          <a:effectLst/>
                          <a:latin typeface="+mj-lt"/>
                          <a:ea typeface="Aptos" panose="020B0004020202020204" pitchFamily="34" charset="0"/>
                        </a:rPr>
                        <a:t>25,000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r" defTabSz="914400" rtl="0" eaLnBrk="1" fontAlgn="auto" latinLnBrk="0" hangingPunct="1">
                        <a:lnSpc>
                          <a:spcPct val="107000"/>
                        </a:lnSpc>
                        <a:spcBef>
                          <a:spcPts val="0"/>
                        </a:spcBef>
                        <a:spcAft>
                          <a:spcPts val="800"/>
                        </a:spcAft>
                        <a:buClrTx/>
                        <a:buSzTx/>
                        <a:buFontTx/>
                        <a:buNone/>
                        <a:tabLst/>
                        <a:defRPr/>
                      </a:pPr>
                      <a:r>
                        <a:rPr lang="en-US" sz="1600" kern="100" dirty="0">
                          <a:solidFill>
                            <a:schemeClr val="tx1"/>
                          </a:solidFill>
                          <a:effectLst/>
                          <a:latin typeface="+mj-lt"/>
                          <a:ea typeface="Aptos" panose="020B0004020202020204" pitchFamily="34" charset="0"/>
                          <a:cs typeface="+mn-cs"/>
                        </a:rPr>
                        <a:t>1.3 (1.1 – 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r" defTabSz="914400" rtl="0" eaLnBrk="1" fontAlgn="auto" latinLnBrk="0" hangingPunct="1">
                        <a:lnSpc>
                          <a:spcPct val="107000"/>
                        </a:lnSpc>
                        <a:spcBef>
                          <a:spcPts val="0"/>
                        </a:spcBef>
                        <a:spcAft>
                          <a:spcPts val="80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Calibri Light"/>
                          <a:ea typeface="Aptos" panose="020B0004020202020204" pitchFamily="34" charset="0"/>
                          <a:cs typeface="+mn-cs"/>
                        </a:rPr>
                        <a:t>&lt;0.001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5711122"/>
                  </a:ext>
                </a:extLst>
              </a:tr>
              <a:tr h="0">
                <a:tc>
                  <a:txBody>
                    <a:bodyPr/>
                    <a:lstStyle/>
                    <a:p>
                      <a:pPr marL="0" marR="0" algn="r">
                        <a:lnSpc>
                          <a:spcPct val="107000"/>
                        </a:lnSpc>
                        <a:spcAft>
                          <a:spcPts val="800"/>
                        </a:spcAft>
                        <a:buNone/>
                      </a:pPr>
                      <a:r>
                        <a:rPr lang="en-US" sz="1600" kern="100" dirty="0">
                          <a:effectLst/>
                          <a:latin typeface="+mj-lt"/>
                          <a:ea typeface="Aptos" panose="020B0004020202020204" pitchFamily="34" charset="0"/>
                        </a:rPr>
                        <a:t>30,000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07000"/>
                        </a:lnSpc>
                        <a:spcAft>
                          <a:spcPts val="800"/>
                        </a:spcAft>
                        <a:buNone/>
                      </a:pPr>
                      <a:r>
                        <a:rPr lang="en-US" sz="1600" kern="100" dirty="0">
                          <a:effectLst/>
                          <a:latin typeface="+mj-lt"/>
                          <a:ea typeface="Aptos" panose="020B0004020202020204" pitchFamily="34" charset="0"/>
                        </a:rPr>
                        <a:t>1.0 (0.8 – 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r" defTabSz="914400" rtl="0" eaLnBrk="1" fontAlgn="auto" latinLnBrk="0" hangingPunct="1">
                        <a:lnSpc>
                          <a:spcPct val="107000"/>
                        </a:lnSpc>
                        <a:spcBef>
                          <a:spcPts val="0"/>
                        </a:spcBef>
                        <a:spcAft>
                          <a:spcPts val="800"/>
                        </a:spcAft>
                        <a:buClrTx/>
                        <a:buSzTx/>
                        <a:buFontTx/>
                        <a:buNone/>
                        <a:tabLst/>
                        <a:defRPr/>
                      </a:pPr>
                      <a:r>
                        <a:rPr kumimoji="0" lang="en-US" sz="1600" b="0" i="0" u="none" strike="noStrike" kern="100" cap="none" spc="0" normalizeH="0" baseline="0" noProof="0" dirty="0">
                          <a:ln>
                            <a:noFill/>
                          </a:ln>
                          <a:solidFill>
                            <a:prstClr val="black"/>
                          </a:solidFill>
                          <a:effectLst/>
                          <a:uLnTx/>
                          <a:uFillTx/>
                          <a:latin typeface="Calibri Light"/>
                          <a:ea typeface="Aptos" panose="020B0004020202020204" pitchFamily="34" charset="0"/>
                          <a:cs typeface="+mn-cs"/>
                        </a:rPr>
                        <a:t>&lt;0.001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4020865"/>
                  </a:ext>
                </a:extLst>
              </a:tr>
            </a:tbl>
          </a:graphicData>
        </a:graphic>
      </p:graphicFrame>
      <p:sp>
        <p:nvSpPr>
          <p:cNvPr id="2" name="Title 1">
            <a:extLst>
              <a:ext uri="{FF2B5EF4-FFF2-40B4-BE49-F238E27FC236}">
                <a16:creationId xmlns:a16="http://schemas.microsoft.com/office/drawing/2014/main" id="{92E45A14-7DF5-9027-9A49-DDB60BC45EE9}"/>
              </a:ext>
            </a:extLst>
          </p:cNvPr>
          <p:cNvSpPr>
            <a:spLocks noGrp="1"/>
          </p:cNvSpPr>
          <p:nvPr>
            <p:ph type="title"/>
          </p:nvPr>
        </p:nvSpPr>
        <p:spPr>
          <a:xfrm>
            <a:off x="0" y="18255"/>
            <a:ext cx="12192000" cy="1325563"/>
          </a:xfrm>
        </p:spPr>
        <p:txBody>
          <a:bodyPr/>
          <a:lstStyle/>
          <a:p>
            <a:r>
              <a:rPr lang="en-US" dirty="0"/>
              <a:t>Effect of PICU Admissions on ECMO Utilization</a:t>
            </a:r>
          </a:p>
        </p:txBody>
      </p:sp>
      <p:sp>
        <p:nvSpPr>
          <p:cNvPr id="4" name="TextBox 3">
            <a:extLst>
              <a:ext uri="{FF2B5EF4-FFF2-40B4-BE49-F238E27FC236}">
                <a16:creationId xmlns:a16="http://schemas.microsoft.com/office/drawing/2014/main" id="{E9860CAD-ED3C-E9FF-AB17-F2F05162579B}"/>
              </a:ext>
            </a:extLst>
          </p:cNvPr>
          <p:cNvSpPr txBox="1"/>
          <p:nvPr/>
        </p:nvSpPr>
        <p:spPr>
          <a:xfrm>
            <a:off x="10365424" y="6488668"/>
            <a:ext cx="2238211" cy="369332"/>
          </a:xfrm>
          <a:prstGeom prst="rect">
            <a:avLst/>
          </a:prstGeom>
          <a:noFill/>
        </p:spPr>
        <p:txBody>
          <a:bodyPr wrap="square">
            <a:spAutoFit/>
          </a:bodyPr>
          <a:lstStyle/>
          <a:p>
            <a:r>
              <a:rPr lang="en-US" b="1" dirty="0">
                <a:solidFill>
                  <a:srgbClr val="FF0000"/>
                </a:solidFill>
              </a:rPr>
              <a:t>Unpublished Data</a:t>
            </a:r>
          </a:p>
        </p:txBody>
      </p:sp>
      <p:sp>
        <p:nvSpPr>
          <p:cNvPr id="11" name="Rectangle 3">
            <a:extLst>
              <a:ext uri="{FF2B5EF4-FFF2-40B4-BE49-F238E27FC236}">
                <a16:creationId xmlns:a16="http://schemas.microsoft.com/office/drawing/2014/main" id="{C2257A2A-BBB9-D7E6-303A-441182C4678F}"/>
              </a:ext>
            </a:extLst>
          </p:cNvPr>
          <p:cNvSpPr>
            <a:spLocks noChangeArrowheads="1"/>
          </p:cNvSpPr>
          <p:nvPr/>
        </p:nvSpPr>
        <p:spPr bwMode="auto">
          <a:xfrm>
            <a:off x="1207654" y="352064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5">
            <a:extLst>
              <a:ext uri="{FF2B5EF4-FFF2-40B4-BE49-F238E27FC236}">
                <a16:creationId xmlns:a16="http://schemas.microsoft.com/office/drawing/2014/main" id="{653D0D7C-8F6D-3F15-E703-74E1DBB41396}"/>
              </a:ext>
            </a:extLst>
          </p:cNvPr>
          <p:cNvSpPr>
            <a:spLocks noChangeArrowheads="1"/>
          </p:cNvSpPr>
          <p:nvPr/>
        </p:nvSpPr>
        <p:spPr bwMode="auto">
          <a:xfrm>
            <a:off x="1207654" y="353377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 name="TextBox 2">
            <a:extLst>
              <a:ext uri="{FF2B5EF4-FFF2-40B4-BE49-F238E27FC236}">
                <a16:creationId xmlns:a16="http://schemas.microsoft.com/office/drawing/2014/main" id="{6971353D-8AE9-7321-4223-1FB08EA5DE48}"/>
              </a:ext>
            </a:extLst>
          </p:cNvPr>
          <p:cNvSpPr txBox="1"/>
          <p:nvPr/>
        </p:nvSpPr>
        <p:spPr>
          <a:xfrm>
            <a:off x="1553817" y="5057413"/>
            <a:ext cx="9084365" cy="338554"/>
          </a:xfrm>
          <a:prstGeom prst="rect">
            <a:avLst/>
          </a:prstGeom>
          <a:noFill/>
        </p:spPr>
        <p:txBody>
          <a:bodyPr wrap="square" rtlCol="0">
            <a:spAutoFit/>
          </a:bodyPr>
          <a:lstStyle/>
          <a:p>
            <a:pPr algn="ctr"/>
            <a:r>
              <a:rPr lang="en-US" sz="1600" dirty="0">
                <a:latin typeface="+mj-lt"/>
              </a:rPr>
              <a:t>Interpretation: For every 5,000 patient admissions, the relative decrease in probability of ECMO is ~20%</a:t>
            </a:r>
          </a:p>
        </p:txBody>
      </p:sp>
    </p:spTree>
    <p:extLst>
      <p:ext uri="{BB962C8B-B14F-4D97-AF65-F5344CB8AC3E}">
        <p14:creationId xmlns:p14="http://schemas.microsoft.com/office/powerpoint/2010/main" val="1486267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1E9EA-6EAD-2BB6-C9EF-958BEA6897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7696C-5F12-DF75-976F-6E3EB05A83F4}"/>
              </a:ext>
            </a:extLst>
          </p:cNvPr>
          <p:cNvSpPr>
            <a:spLocks noGrp="1"/>
          </p:cNvSpPr>
          <p:nvPr>
            <p:ph type="title"/>
          </p:nvPr>
        </p:nvSpPr>
        <p:spPr>
          <a:xfrm>
            <a:off x="0" y="18255"/>
            <a:ext cx="10515600" cy="1325563"/>
          </a:xfrm>
        </p:spPr>
        <p:txBody>
          <a:bodyPr/>
          <a:lstStyle/>
          <a:p>
            <a:r>
              <a:rPr lang="en-US" dirty="0"/>
              <a:t>Acknowledgements</a:t>
            </a:r>
          </a:p>
        </p:txBody>
      </p:sp>
      <p:sp>
        <p:nvSpPr>
          <p:cNvPr id="3" name="Content Placeholder 2">
            <a:extLst>
              <a:ext uri="{FF2B5EF4-FFF2-40B4-BE49-F238E27FC236}">
                <a16:creationId xmlns:a16="http://schemas.microsoft.com/office/drawing/2014/main" id="{32015FE7-8515-1196-5ADE-663B91213E18}"/>
              </a:ext>
            </a:extLst>
          </p:cNvPr>
          <p:cNvSpPr>
            <a:spLocks noGrp="1"/>
          </p:cNvSpPr>
          <p:nvPr>
            <p:ph idx="1"/>
          </p:nvPr>
        </p:nvSpPr>
        <p:spPr>
          <a:xfrm>
            <a:off x="121508" y="1529063"/>
            <a:ext cx="12070492" cy="4533534"/>
          </a:xfrm>
        </p:spPr>
        <p:txBody>
          <a:bodyPr/>
          <a:lstStyle/>
          <a:p>
            <a:r>
              <a:rPr lang="en-US" dirty="0"/>
              <a:t>Ryan Barbaro MD, MSc </a:t>
            </a:r>
          </a:p>
          <a:p>
            <a:r>
              <a:rPr lang="en-US" dirty="0"/>
              <a:t>Erin Carlton MD, MSc</a:t>
            </a:r>
          </a:p>
          <a:p>
            <a:r>
              <a:rPr lang="en-US" dirty="0"/>
              <a:t>Stephen Gorga MD, MSc</a:t>
            </a:r>
          </a:p>
          <a:p>
            <a:r>
              <a:rPr lang="en-US" dirty="0"/>
              <a:t>Zubin Modi MD, MSc</a:t>
            </a:r>
          </a:p>
          <a:p>
            <a:r>
              <a:rPr lang="en-US" dirty="0" err="1"/>
              <a:t>Acham</a:t>
            </a:r>
            <a:r>
              <a:rPr lang="en-US" dirty="0"/>
              <a:t> Gebremariam MS</a:t>
            </a:r>
          </a:p>
          <a:p>
            <a:r>
              <a:rPr lang="en-US" dirty="0"/>
              <a:t>Sarah Reeves PhD, MPH</a:t>
            </a:r>
          </a:p>
          <a:p>
            <a:r>
              <a:rPr lang="en-US" dirty="0"/>
              <a:t>Kao-Ping Chua MD, PhD</a:t>
            </a:r>
          </a:p>
          <a:p>
            <a:r>
              <a:rPr lang="en-US" dirty="0"/>
              <a:t>Susan B Meister &amp; The Meister Foundation</a:t>
            </a:r>
          </a:p>
          <a:p>
            <a:endParaRPr lang="en-US" dirty="0"/>
          </a:p>
        </p:txBody>
      </p:sp>
    </p:spTree>
    <p:extLst>
      <p:ext uri="{BB962C8B-B14F-4D97-AF65-F5344CB8AC3E}">
        <p14:creationId xmlns:p14="http://schemas.microsoft.com/office/powerpoint/2010/main" val="4088912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ACD8E-679D-472C-C7E2-B8FE0AE7EA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F3B5E-B1FF-29BA-9042-7B5815122808}"/>
              </a:ext>
            </a:extLst>
          </p:cNvPr>
          <p:cNvSpPr>
            <a:spLocks noGrp="1"/>
          </p:cNvSpPr>
          <p:nvPr>
            <p:ph type="title"/>
          </p:nvPr>
        </p:nvSpPr>
        <p:spPr>
          <a:xfrm>
            <a:off x="0" y="18255"/>
            <a:ext cx="10515600" cy="1325563"/>
          </a:xfrm>
        </p:spPr>
        <p:txBody>
          <a:bodyPr/>
          <a:lstStyle/>
          <a:p>
            <a:r>
              <a:rPr lang="en-US" dirty="0"/>
              <a:t>Questions</a:t>
            </a:r>
          </a:p>
        </p:txBody>
      </p:sp>
      <p:sp>
        <p:nvSpPr>
          <p:cNvPr id="3" name="Content Placeholder 2">
            <a:extLst>
              <a:ext uri="{FF2B5EF4-FFF2-40B4-BE49-F238E27FC236}">
                <a16:creationId xmlns:a16="http://schemas.microsoft.com/office/drawing/2014/main" id="{6CF34D4B-C23C-5162-37B3-51149232E70D}"/>
              </a:ext>
            </a:extLst>
          </p:cNvPr>
          <p:cNvSpPr>
            <a:spLocks noGrp="1"/>
          </p:cNvSpPr>
          <p:nvPr>
            <p:ph idx="1"/>
          </p:nvPr>
        </p:nvSpPr>
        <p:spPr>
          <a:xfrm>
            <a:off x="121508" y="1529063"/>
            <a:ext cx="12070492" cy="4533534"/>
          </a:xfrm>
        </p:spPr>
        <p:txBody>
          <a:bodyPr/>
          <a:lstStyle/>
          <a:p>
            <a:r>
              <a:rPr lang="en-US" dirty="0"/>
              <a:t>From a clinical perspective how do you think about the saliency of a differential risk of ECMO? </a:t>
            </a:r>
            <a:br>
              <a:rPr lang="en-US" dirty="0"/>
            </a:br>
            <a:endParaRPr lang="en-US" dirty="0"/>
          </a:p>
          <a:p>
            <a:r>
              <a:rPr lang="en-US" dirty="0"/>
              <a:t>Recognizing the limitations of administrative datasets do you think that this work could be strengthened by controlling for ECMO candidacy/severity of illness?</a:t>
            </a:r>
          </a:p>
        </p:txBody>
      </p:sp>
    </p:spTree>
    <p:extLst>
      <p:ext uri="{BB962C8B-B14F-4D97-AF65-F5344CB8AC3E}">
        <p14:creationId xmlns:p14="http://schemas.microsoft.com/office/powerpoint/2010/main" val="2496370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29E8C-8644-C82E-2AD8-71702AC674A2}"/>
              </a:ext>
            </a:extLst>
          </p:cNvPr>
          <p:cNvSpPr>
            <a:spLocks noGrp="1"/>
          </p:cNvSpPr>
          <p:nvPr>
            <p:ph type="title"/>
          </p:nvPr>
        </p:nvSpPr>
        <p:spPr>
          <a:xfrm>
            <a:off x="0" y="18255"/>
            <a:ext cx="10515600" cy="1325563"/>
          </a:xfrm>
        </p:spPr>
        <p:txBody>
          <a:bodyPr/>
          <a:lstStyle/>
          <a:p>
            <a:r>
              <a:rPr lang="en-US" dirty="0"/>
              <a:t>References</a:t>
            </a:r>
          </a:p>
        </p:txBody>
      </p:sp>
      <p:sp>
        <p:nvSpPr>
          <p:cNvPr id="4" name="Content Placeholder 2">
            <a:extLst>
              <a:ext uri="{FF2B5EF4-FFF2-40B4-BE49-F238E27FC236}">
                <a16:creationId xmlns:a16="http://schemas.microsoft.com/office/drawing/2014/main" id="{2375ABD4-99DC-DFA9-7FB9-70E36CB47E2B}"/>
              </a:ext>
            </a:extLst>
          </p:cNvPr>
          <p:cNvSpPr>
            <a:spLocks noGrp="1"/>
          </p:cNvSpPr>
          <p:nvPr>
            <p:ph idx="1"/>
          </p:nvPr>
        </p:nvSpPr>
        <p:spPr>
          <a:xfrm>
            <a:off x="0" y="1591709"/>
            <a:ext cx="12192000" cy="4607072"/>
          </a:xfrm>
        </p:spPr>
        <p:txBody>
          <a:bodyPr>
            <a:noAutofit/>
          </a:bodyPr>
          <a:lstStyle/>
          <a:p>
            <a:r>
              <a:rPr lang="en-US" sz="1100" dirty="0">
                <a:latin typeface="Calibri Light" panose="020F0302020204030204" pitchFamily="34" charset="0"/>
                <a:ea typeface="Calibri Light" panose="020F0302020204030204" pitchFamily="34" charset="0"/>
                <a:cs typeface="Calibri Light" panose="020F0302020204030204" pitchFamily="34" charset="0"/>
              </a:rPr>
              <a:t>Slide 3: Maratta C, </a:t>
            </a:r>
            <a:r>
              <a:rPr lang="en-US" sz="1100" dirty="0" err="1">
                <a:latin typeface="Calibri Light" panose="020F0302020204030204" pitchFamily="34" charset="0"/>
                <a:ea typeface="Calibri Light" panose="020F0302020204030204" pitchFamily="34" charset="0"/>
                <a:cs typeface="Calibri Light" panose="020F0302020204030204" pitchFamily="34" charset="0"/>
              </a:rPr>
              <a:t>Potera</a:t>
            </a:r>
            <a:r>
              <a:rPr lang="en-US" sz="1100" dirty="0">
                <a:latin typeface="Calibri Light" panose="020F0302020204030204" pitchFamily="34" charset="0"/>
                <a:ea typeface="Calibri Light" panose="020F0302020204030204" pitchFamily="34" charset="0"/>
                <a:cs typeface="Calibri Light" panose="020F0302020204030204" pitchFamily="34" charset="0"/>
              </a:rPr>
              <a:t> RM, van Leeuwen G, Castillo Moya A, Raman L, </a:t>
            </a:r>
            <a:r>
              <a:rPr lang="en-US" sz="1100" dirty="0" err="1">
                <a:latin typeface="Calibri Light" panose="020F0302020204030204" pitchFamily="34" charset="0"/>
                <a:ea typeface="Calibri Light" panose="020F0302020204030204" pitchFamily="34" charset="0"/>
                <a:cs typeface="Calibri Light" panose="020F0302020204030204" pitchFamily="34" charset="0"/>
              </a:rPr>
              <a:t>Annich</a:t>
            </a:r>
            <a:r>
              <a:rPr lang="en-US" sz="1100" dirty="0">
                <a:latin typeface="Calibri Light" panose="020F0302020204030204" pitchFamily="34" charset="0"/>
                <a:ea typeface="Calibri Light" panose="020F0302020204030204" pitchFamily="34" charset="0"/>
                <a:cs typeface="Calibri Light" panose="020F0302020204030204" pitchFamily="34" charset="0"/>
              </a:rPr>
              <a:t> GM. Extracorporeal Life Support Organization (ELSO): 2020 Pediatric Respiratory ELSO Guideline. </a:t>
            </a:r>
            <a:r>
              <a:rPr lang="en-US" sz="1100" i="1" dirty="0">
                <a:latin typeface="Calibri Light" panose="020F0302020204030204" pitchFamily="34" charset="0"/>
                <a:ea typeface="Calibri Light" panose="020F0302020204030204" pitchFamily="34" charset="0"/>
                <a:cs typeface="Calibri Light" panose="020F0302020204030204" pitchFamily="34" charset="0"/>
              </a:rPr>
              <a:t>ASAIO J</a:t>
            </a:r>
            <a:r>
              <a:rPr lang="en-US" sz="1100" dirty="0">
                <a:latin typeface="Calibri Light" panose="020F0302020204030204" pitchFamily="34" charset="0"/>
                <a:ea typeface="Calibri Light" panose="020F0302020204030204" pitchFamily="34" charset="0"/>
                <a:cs typeface="Calibri Light" panose="020F0302020204030204" pitchFamily="34" charset="0"/>
              </a:rPr>
              <a:t>. 2020;66(9):975-979. doi:10.1097/MAT.0000000000001223 </a:t>
            </a:r>
          </a:p>
          <a:p>
            <a:r>
              <a:rPr lang="en-US" sz="1100" dirty="0">
                <a:latin typeface="Calibri Light" panose="020F0302020204030204" pitchFamily="34" charset="0"/>
                <a:ea typeface="Calibri Light" panose="020F0302020204030204" pitchFamily="34" charset="0"/>
                <a:cs typeface="Calibri Light" panose="020F0302020204030204" pitchFamily="34" charset="0"/>
              </a:rPr>
              <a:t>Slide 4: </a:t>
            </a:r>
            <a:r>
              <a:rPr lang="en-US" sz="1100" kern="100" dirty="0">
                <a:latin typeface="Calibri Light" panose="020F0302020204030204" pitchFamily="34" charset="0"/>
                <a:ea typeface="Calibri Light" panose="020F0302020204030204" pitchFamily="34" charset="0"/>
                <a:cs typeface="Calibri Light" panose="020F0302020204030204" pitchFamily="34" charset="0"/>
              </a:rPr>
              <a:t>MacLaren G, Conrad </a:t>
            </a:r>
            <a:r>
              <a:rPr lang="en-US" sz="1100" kern="100" dirty="0" err="1">
                <a:latin typeface="Calibri Light" panose="020F0302020204030204" pitchFamily="34" charset="0"/>
                <a:ea typeface="Calibri Light" panose="020F0302020204030204" pitchFamily="34" charset="0"/>
                <a:cs typeface="Calibri Light" panose="020F0302020204030204" pitchFamily="34" charset="0"/>
              </a:rPr>
              <a:t>S,Peek</a:t>
            </a:r>
            <a:r>
              <a:rPr lang="en-US" sz="1100" kern="100" dirty="0">
                <a:latin typeface="Calibri Light" panose="020F0302020204030204" pitchFamily="34" charset="0"/>
                <a:ea typeface="Calibri Light" panose="020F0302020204030204" pitchFamily="34" charset="0"/>
                <a:cs typeface="Calibri Light" panose="020F0302020204030204" pitchFamily="34" charset="0"/>
              </a:rPr>
              <a:t> G. Extracorporeal Life Support Organization (ELSO): 2015 Indications for Pediatric Respiratory Extracorporeal Life Support</a:t>
            </a:r>
            <a:br>
              <a:rPr lang="en-US" sz="1100" dirty="0">
                <a:latin typeface="Calibri Light" panose="020F0302020204030204" pitchFamily="34" charset="0"/>
                <a:ea typeface="Calibri Light" panose="020F0302020204030204" pitchFamily="34" charset="0"/>
                <a:cs typeface="Calibri Light" panose="020F0302020204030204" pitchFamily="34" charset="0"/>
              </a:rPr>
            </a:br>
            <a:r>
              <a:rPr lang="en-US" sz="1100" dirty="0">
                <a:latin typeface="Calibri Light" panose="020F0302020204030204" pitchFamily="34" charset="0"/>
                <a:ea typeface="Calibri Light" panose="020F0302020204030204" pitchFamily="34" charset="0"/>
                <a:cs typeface="Calibri Light" panose="020F0302020204030204" pitchFamily="34" charset="0"/>
              </a:rPr>
              <a:t>Maratta C, </a:t>
            </a:r>
            <a:r>
              <a:rPr lang="en-US" sz="1100" dirty="0" err="1">
                <a:latin typeface="Calibri Light" panose="020F0302020204030204" pitchFamily="34" charset="0"/>
                <a:ea typeface="Calibri Light" panose="020F0302020204030204" pitchFamily="34" charset="0"/>
                <a:cs typeface="Calibri Light" panose="020F0302020204030204" pitchFamily="34" charset="0"/>
              </a:rPr>
              <a:t>Potera</a:t>
            </a:r>
            <a:r>
              <a:rPr lang="en-US" sz="1100" dirty="0">
                <a:latin typeface="Calibri Light" panose="020F0302020204030204" pitchFamily="34" charset="0"/>
                <a:ea typeface="Calibri Light" panose="020F0302020204030204" pitchFamily="34" charset="0"/>
                <a:cs typeface="Calibri Light" panose="020F0302020204030204" pitchFamily="34" charset="0"/>
              </a:rPr>
              <a:t> RM, van Leeuwen G, Castillo Moya A, Raman L, </a:t>
            </a:r>
            <a:r>
              <a:rPr lang="en-US" sz="1100" dirty="0" err="1">
                <a:latin typeface="Calibri Light" panose="020F0302020204030204" pitchFamily="34" charset="0"/>
                <a:ea typeface="Calibri Light" panose="020F0302020204030204" pitchFamily="34" charset="0"/>
                <a:cs typeface="Calibri Light" panose="020F0302020204030204" pitchFamily="34" charset="0"/>
              </a:rPr>
              <a:t>Annich</a:t>
            </a:r>
            <a:r>
              <a:rPr lang="en-US" sz="1100" dirty="0">
                <a:latin typeface="Calibri Light" panose="020F0302020204030204" pitchFamily="34" charset="0"/>
                <a:ea typeface="Calibri Light" panose="020F0302020204030204" pitchFamily="34" charset="0"/>
                <a:cs typeface="Calibri Light" panose="020F0302020204030204" pitchFamily="34" charset="0"/>
              </a:rPr>
              <a:t> GM. Extracorporeal Life Support Organization (ELSO): 2020 Pediatric Respiratory ELSO Guideline. </a:t>
            </a:r>
            <a:r>
              <a:rPr lang="en-US" sz="1100" i="1" dirty="0">
                <a:latin typeface="Calibri Light" panose="020F0302020204030204" pitchFamily="34" charset="0"/>
                <a:ea typeface="Calibri Light" panose="020F0302020204030204" pitchFamily="34" charset="0"/>
                <a:cs typeface="Calibri Light" panose="020F0302020204030204" pitchFamily="34" charset="0"/>
              </a:rPr>
              <a:t>ASAIO J</a:t>
            </a:r>
            <a:r>
              <a:rPr lang="en-US" sz="1100" dirty="0">
                <a:latin typeface="Calibri Light" panose="020F0302020204030204" pitchFamily="34" charset="0"/>
                <a:ea typeface="Calibri Light" panose="020F0302020204030204" pitchFamily="34" charset="0"/>
                <a:cs typeface="Calibri Light" panose="020F0302020204030204" pitchFamily="34" charset="0"/>
              </a:rPr>
              <a:t>. 2020;66(9):975-979. doi:10.1097/MAT.0000000000001223 </a:t>
            </a:r>
          </a:p>
          <a:p>
            <a:r>
              <a:rPr lang="en-US" sz="1100" dirty="0">
                <a:latin typeface="Calibri Light" panose="020F0302020204030204" pitchFamily="34" charset="0"/>
                <a:ea typeface="Calibri Light" panose="020F0302020204030204" pitchFamily="34" charset="0"/>
                <a:cs typeface="Calibri Light" panose="020F0302020204030204" pitchFamily="34" charset="0"/>
              </a:rPr>
              <a:t>Slides 5: Kuo KW, Barbaro RP, Gadepalli SK, Davis MM, Bartlett RH, </a:t>
            </a:r>
            <a:r>
              <a:rPr lang="en-US" sz="1100" dirty="0" err="1">
                <a:latin typeface="Calibri Light" panose="020F0302020204030204" pitchFamily="34" charset="0"/>
                <a:ea typeface="Calibri Light" panose="020F0302020204030204" pitchFamily="34" charset="0"/>
                <a:cs typeface="Calibri Light" panose="020F0302020204030204" pitchFamily="34" charset="0"/>
              </a:rPr>
              <a:t>Odetola</a:t>
            </a:r>
            <a:r>
              <a:rPr lang="en-US" sz="1100" dirty="0">
                <a:latin typeface="Calibri Light" panose="020F0302020204030204" pitchFamily="34" charset="0"/>
                <a:ea typeface="Calibri Light" panose="020F0302020204030204" pitchFamily="34" charset="0"/>
                <a:cs typeface="Calibri Light" panose="020F0302020204030204" pitchFamily="34" charset="0"/>
              </a:rPr>
              <a:t> FO. Should Extracorporeal Membrane Oxygenation Be Offered? An International Survey. </a:t>
            </a:r>
            <a:r>
              <a:rPr lang="en-US" sz="1100" i="1" dirty="0">
                <a:latin typeface="Calibri Light" panose="020F0302020204030204" pitchFamily="34" charset="0"/>
                <a:ea typeface="Calibri Light" panose="020F0302020204030204" pitchFamily="34" charset="0"/>
                <a:cs typeface="Calibri Light" panose="020F0302020204030204" pitchFamily="34" charset="0"/>
              </a:rPr>
              <a:t>J </a:t>
            </a:r>
            <a:r>
              <a:rPr lang="en-US" sz="1100" i="1" dirty="0" err="1">
                <a:latin typeface="Calibri Light" panose="020F0302020204030204" pitchFamily="34" charset="0"/>
                <a:ea typeface="Calibri Light" panose="020F0302020204030204" pitchFamily="34" charset="0"/>
                <a:cs typeface="Calibri Light" panose="020F0302020204030204" pitchFamily="34" charset="0"/>
              </a:rPr>
              <a:t>Pediatr</a:t>
            </a:r>
            <a:r>
              <a:rPr lang="en-US" sz="1100" dirty="0">
                <a:latin typeface="Calibri Light" panose="020F0302020204030204" pitchFamily="34" charset="0"/>
                <a:ea typeface="Calibri Light" panose="020F0302020204030204" pitchFamily="34" charset="0"/>
                <a:cs typeface="Calibri Light" panose="020F0302020204030204" pitchFamily="34" charset="0"/>
              </a:rPr>
              <a:t>. 2017;182:107-113. doi:10.1016/j.jpeds.2016.12.025</a:t>
            </a:r>
          </a:p>
        </p:txBody>
      </p:sp>
    </p:spTree>
    <p:extLst>
      <p:ext uri="{BB962C8B-B14F-4D97-AF65-F5344CB8AC3E}">
        <p14:creationId xmlns:p14="http://schemas.microsoft.com/office/powerpoint/2010/main" val="1473975994"/>
      </p:ext>
    </p:extLst>
  </p:cSld>
  <p:clrMapOvr>
    <a:masterClrMapping/>
  </p:clrMapOvr>
</p:sld>
</file>

<file path=ppt/theme/theme1.xml><?xml version="1.0" encoding="utf-8"?>
<a:theme xmlns:a="http://schemas.openxmlformats.org/drawingml/2006/main" name="University of Michigan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ity of Michigan Template" id="{002DDF46-F361-482C-867C-0849E6B4E9A4}" vid="{AA0FCFE7-D365-461C-A1C3-94A16E9DA86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4023</TotalTime>
  <Words>2000</Words>
  <Application>Microsoft Office PowerPoint</Application>
  <PresentationFormat>Widescreen</PresentationFormat>
  <Paragraphs>329</Paragraphs>
  <Slides>19</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Calibri Light</vt:lpstr>
      <vt:lpstr>University of Michigan Template</vt:lpstr>
      <vt:lpstr>ECMO Utilization in  “High-Risk” Populations</vt:lpstr>
      <vt:lpstr>Objectives</vt:lpstr>
      <vt:lpstr>Who gets ECMO</vt:lpstr>
      <vt:lpstr>Changes in ECMO Contraindications</vt:lpstr>
      <vt:lpstr>Defining High-Risk Populations</vt:lpstr>
      <vt:lpstr>Our Questions</vt:lpstr>
      <vt:lpstr>PowerPoint Presentation</vt:lpstr>
      <vt:lpstr>What are the trends in ECMO utilization?</vt:lpstr>
      <vt:lpstr>Has ECMO receipt changed for trauma patients?</vt:lpstr>
      <vt:lpstr>Has ECMO receipt changed for everyone else?</vt:lpstr>
      <vt:lpstr>Has ECMO receipt changed for trisomy patients?</vt:lpstr>
      <vt:lpstr>Has ECMO receipt changed for oncologic/HSCT patients?</vt:lpstr>
      <vt:lpstr>Making the model</vt:lpstr>
      <vt:lpstr>Patient level factors that influence ECMO Utilization</vt:lpstr>
      <vt:lpstr>Effect of Hospital Level ECMO on ECMO Utilization</vt:lpstr>
      <vt:lpstr>Effect of PICU Admissions on ECMO Utilization</vt:lpstr>
      <vt:lpstr>Acknowledgements</vt:lpstr>
      <vt:lpstr>Questions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Rumlow, Zachary A</dc:creator>
  <cp:lastModifiedBy>Rumlow, Zachary A</cp:lastModifiedBy>
  <cp:revision>503</cp:revision>
  <dcterms:created xsi:type="dcterms:W3CDTF">2025-08-18T12:56:00Z</dcterms:created>
  <dcterms:modified xsi:type="dcterms:W3CDTF">2026-02-18T19:11:53Z</dcterms:modified>
</cp:coreProperties>
</file>